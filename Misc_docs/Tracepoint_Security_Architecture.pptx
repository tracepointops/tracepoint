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192A47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358887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Tracepoint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Enterprise-Grade Security for Swanson's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9A9A9"/>
                </a:solidFill>
              </a:defRPr>
            </a:pPr>
            <a:r>
              <a:t>Presented by: Wayne Lytle</a:t>
            </a:r>
          </a:p>
          <a:p>
            <a:r>
              <a:t>Swanson Industries 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Authentication System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Multi-Layer Password Protection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Bcrypt hashing with 10 salt rounds (industry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One-way encryption - passwords cannot be decrypted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Minimum 8 characters enforced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Rainbow table protection via unique salts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OAuth 2.0 Integration (Enterprise SSO)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Google OAuth - OpenID Connect certified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Microsoft Azure AD - SAML 2.0 compliant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Custom SSO available for enterprise needs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No password storage - delegated to trusted providers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Two-Factor Authentication (2FA)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TOTP (Time-based One-Time Password)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6-digit codes rotating every 30 seconds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RFC 6238 compliant (Google Authenticator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Workspace-level enforcement capability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Token-Based Session Management 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JWT (JSON Web Tokens) - Three-Tier System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Login Token (5 minutes)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Initial authentication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Short-lived, workspace-specific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Access Token (1 hour)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API requests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Contains user permissions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Refresh Token (30 days)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Renew access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Revocable instantly</a:t>
            </a:r>
          </a:p>
          <a:p>
            <a:pPr>
              <a:spcBef>
                <a:spcPts val="1000"/>
              </a:spcBef>
              <a:defRPr sz="1600" b="1">
                <a:solidFill>
                  <a:srgbClr val="64B5F6"/>
                </a:solidFill>
              </a:defRPr>
            </a:pPr>
            <a:r>
              <a:t>Token Security Features: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Cryptographic signature verification (SHA-256)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Automatic expiration enforcement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Workspace-specific isolation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Instant revocation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Data Encryption 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64B5F6"/>
                </a:solidFill>
              </a:defRPr>
            </a:pPr>
            <a:r>
              <a:t>Encryption at Rest (AES-256-CTR)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OAuth refresh tokens and access credentials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API keys and webhook secrets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Connected account authentication data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Sensitive customer information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Encryption Process: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Unique IV (Initialization Vector) per record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SHA-512 key hashing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Military-grade AES-256-CTR encryption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Secure base64 storage</a:t>
            </a:r>
          </a:p>
          <a:p>
            <a:br/>
            <a:pPr>
              <a:spcBef>
                <a:spcPts val="1500"/>
              </a:spcBef>
              <a:defRPr sz="2000" b="1">
                <a:solidFill>
                  <a:srgbClr val="64B5F6"/>
                </a:solidFill>
              </a:defRPr>
            </a:pPr>
            <a:r>
              <a:t>Encryption in Transit (HTTPS/TLS 1.3)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All API traffic encrypted end-to-end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Certificate-based authentication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Perfect forward secrecy (PFS)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Protection against man-in-the-middle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Role-Based Access Control (RBAC) 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64B5F6"/>
                </a:solidFill>
              </a:defRPr>
            </a:pPr>
            <a:r>
              <a:t>Granular Permission System (22 Categories)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Settings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Workspace - Global settings management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Members - User access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Roles - Permission management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Data Model - Database schema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Security - Authentication &amp; 2FA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Billing - Subscription management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Tool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AI - AI agent interactions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Upload/Download Files - Document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Export/Import CSV - Data portability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Send Email - Communication tools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64B5F6"/>
                </a:solidFill>
              </a:defRPr>
            </a:pPr>
            <a:r>
              <a:t>Field-Level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Control access at individual field level (read, create, update, delete)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API Security 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API Key Authentication for Integrations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Long-lived tokens for service accounts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Scoped permissions (inherit from role)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Instant revocation capability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Complete audit trail of all usage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API Key Structure Example:</a:t>
            </a:r>
          </a:p>
          <a:p>
            <a:pPr lvl="1">
              <a:defRPr sz="1400">
                <a:solidFill>
                  <a:srgbClr val="64DD17"/>
                </a:solidFill>
                <a:latin typeface="Courier New"/>
              </a:defRPr>
            </a:pPr>
            <a:r>
              <a:t>sk_a1b2c3d4_e5f6g7h8i9j0k1l2m3n4o5p6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Security Features: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256-bit entropy (cryptographically random)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Rate limited (1000 requests/minute default)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Workspace-specific prefix identification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Secure storage with encryption at 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Workspace Isolation 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Multi-Tenant Security Architecture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Complete Data Segregation: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Schema-level isolation in PostgreSQL database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Row-level security (RLS) policies enforced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Dedicated connection pooling per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Separate encryption keys per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Impossible to access another organization's data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Cross-Workspace Protection: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Tokens bound to workspace ID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All queries filtered by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File storage completely segregated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No shared resources between workspaces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Zero data leakage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Audit Trail &amp; Monitoring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Comprehensive Security Auditing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Logged Events: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Login attempts (success &amp; failure)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Password changes and resets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Permission and role changes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Data exports and imports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API key creation/revocation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2FA enable/disable events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User impersonation activities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Audit Capabilities: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Real-time monitoring dashboard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Historical audit log queries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IP address tracking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Timestamp precision to milliseconds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Exportable compliance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8. Attack Prevention &amp; Protection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64B5F6"/>
                </a:solidFill>
              </a:defRPr>
            </a:pPr>
            <a:r>
              <a:t>Rate Limiting &amp; Brute Force Prevention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Login Attempts: 5 per 15 minutes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brute force attacks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Password Reset: 3 per hour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reset abuse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API Requests: 1000 per minute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DDoS protection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File Uploads: 100MB max size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resource exhaustion</a:t>
            </a:r>
          </a:p>
          <a:p>
            <a:br/>
            <a:pPr>
              <a:spcBef>
                <a:spcPts val="1200"/>
              </a:spcBef>
              <a:defRPr sz="1800" b="1">
                <a:solidFill>
                  <a:srgbClr val="64B5F6"/>
                </a:solidFill>
              </a:defRPr>
            </a:pPr>
            <a:r>
              <a:t>CAPTCHA Protection (Optional)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Configurable for login, signup, password reset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Google reCAPTCHA v3 support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hCaptcha support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Cloudflare Turnstile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9. Compliance &amp; Industry Standards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Security Compliance Standards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OWASP Top 10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Protected against all major web vulnerabilities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GDPR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Data portability, right to deletion, consent management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SOC 2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Comprehensive security controls and monitoring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ISO 27001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Information security management standards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OWASP Top 10 Protection: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Injection - Parameterized queries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Broken Authentication - JWT + 2FA + bcrypt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Sensitive Data Exposure - AES-256 encryption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XSS - React DOM sanitization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Broken Access Control - RBAC + field permissions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10. Swanson's Security Posture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4CAF50"/>
                </a:solidFill>
              </a:defRPr>
            </a:pPr>
            <a:r>
              <a:t>✓ Currently Implemented &amp; Active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Password authentication with bcrypt hashing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Google OAuth 2.0 integration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JWT token-based session management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AES-256 data encryption (at rest)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HTTPS/TLS 1.3 (in transit)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Role-based access control (22 permission categories)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Field-level permissions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Workspace isolation &amp; multi-tenancy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Comprehensive audit logging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Rate limiting &amp; attack prevention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Two-Factor Authentication (2FA) ready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Regular password rotation enforced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API key security with quarterly rotation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Weekly audit log monitoring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Encrypted backup of security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192A47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769165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Summary: Tracepoint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Military-grade encryption (AES-256, TLS 1.3, bcrypt)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Zero-trust architecture with JWT tokens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Enterprise SSO (Google, Microsoft, custom SAML)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Granular permissions (22 categories + field-level)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Attack prevention (rate limiting, audit logs)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Industry compliance (GDPR, SOC 2, ISO 27001, OWASP)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B5F6"/>
                </a:solidFill>
              </a:defRPr>
            </a:pPr>
            <a:r>
              <a:t>Swanson's data is protected by the same security standards used by banks and governments.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