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Welcome to the Tracepoint Security Architecture presentation. This CAPEX proposal outlines our comprehensive security framework that protects Swanson's critical business data.</a:t>
            </a:r>
          </a:p>
          <a:p/>
          <a:p>
            <a:r>
              <a:t>Key Points for Opening:</a:t>
            </a:r>
          </a:p>
          <a:p>
            <a:r>
              <a:t>- Tracepoint was built by our IT team specifically for Swanson's needs</a:t>
            </a:r>
          </a:p>
          <a:p>
            <a:r>
              <a:t>- Security was designed from day one, not added later</a:t>
            </a:r>
          </a:p>
          <a:p>
            <a:r>
              <a:t>- We use the same standards as Fortune 500 companies and financial institutions</a:t>
            </a:r>
          </a:p>
          <a:p>
            <a:r>
              <a:t>- This presentation covers 10 major security categories</a:t>
            </a:r>
          </a:p>
          <a:p/>
          <a:p>
            <a:r>
              <a:t>Be prepared to discuss budget allocation and implementation timeline.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AUTHENTICATION SYSTEM - Detailed Explanations:</a:t>
            </a:r>
          </a:p>
          <a:p/>
          <a:p>
            <a:r>
              <a:t>BCRYPT HASHING:</a:t>
            </a:r>
          </a:p>
          <a:p>
            <a:r>
              <a:t>Q: "What is bcrypt?"</a:t>
            </a:r>
          </a:p>
          <a:p>
            <a:r>
              <a:t>A: It's an industry-standard algorithm specifically designed to be slow, making brute-force attacks impractical. Unlike MD5 or SHA, bcrypt takes time to compute.</a:t>
            </a:r>
          </a:p>
          <a:p/>
          <a:p>
            <a:r>
              <a:t>Q: "What are salt rounds?"</a:t>
            </a:r>
          </a:p>
          <a:p>
            <a:r>
              <a:t>A: Salt = random data added to each password before hashing. 10 rounds means the hashing runs 2^10 (1,024) iterations. More rounds = slower but more secure. 10 is the sweet spot.</a:t>
            </a:r>
          </a:p>
          <a:p/>
          <a:p>
            <a:r>
              <a:t>Q: "Can passwords be recovered?"</a:t>
            </a:r>
          </a:p>
          <a:p>
            <a:r>
              <a:t>A: No. One-way encryption means we can only verify if an entered password matches the hash. Even we cannot see actual passwords.</a:t>
            </a:r>
          </a:p>
          <a:p/>
          <a:p>
            <a:r>
              <a:t>Q: "What's a rainbow table?"</a:t>
            </a:r>
          </a:p>
          <a:p>
            <a:r>
              <a:t>A: Pre-computed hash tables used by attackers. Our unique salts make these useless.</a:t>
            </a:r>
          </a:p>
          <a:p/>
          <a:p>
            <a:r>
              <a:t>OAUTH 2.0:</a:t>
            </a:r>
          </a:p>
          <a:p>
            <a:r>
              <a:t>Q: "Why use Google/Microsoft?"</a:t>
            </a:r>
          </a:p>
          <a:p>
            <a:r>
              <a:t>A: Delegates authentication to experts. We don't store passwords for these accounts. Users already trust these providers.</a:t>
            </a:r>
          </a:p>
          <a:p/>
          <a:p>
            <a:r>
              <a:t>Q: "What's OpenID Connect?"</a:t>
            </a:r>
          </a:p>
          <a:p>
            <a:r>
              <a:t>A: Industry standard for identity verification built on OAuth 2.0. Bank-level security.</a:t>
            </a:r>
          </a:p>
          <a:p/>
          <a:p>
            <a:r>
              <a:t>Q: "What's SAML 2.0?"</a:t>
            </a:r>
          </a:p>
          <a:p>
            <a:r>
              <a:t>A: Enterprise SSO protocol used by corporations. Allows single sign-on across multiple apps.</a:t>
            </a:r>
          </a:p>
          <a:p/>
          <a:p>
            <a:r>
              <a:t>TWO-FACTOR AUTHENTICATION:</a:t>
            </a:r>
          </a:p>
          <a:p>
            <a:r>
              <a:t>Q: "Why 2FA?"</a:t>
            </a:r>
          </a:p>
          <a:p>
            <a:r>
              <a:t>A: Even if password is compromised, attacker needs physical access to phone/authenticator app.</a:t>
            </a:r>
          </a:p>
          <a:p/>
          <a:p>
            <a:r>
              <a:t>Q: "What's TOTP?"</a:t>
            </a:r>
          </a:p>
          <a:p>
            <a:r>
              <a:t>A: Time-based One-Time Password. 6-digit code changes every 30 seconds using synchronized clocks.</a:t>
            </a:r>
          </a:p>
          <a:p/>
          <a:p>
            <a:r>
              <a:t>Q: "Can we enforce it?"</a:t>
            </a:r>
          </a:p>
          <a:p>
            <a:r>
              <a:t>A: Yes, workspace admins can mandate 2FA for all users (recommended for financial/sensitive data access).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TOKEN-BASED SESSION MANAGEMENT - Detailed Explanations:</a:t>
            </a:r>
          </a:p>
          <a:p/>
          <a:p>
            <a:r>
              <a:t>JWT (JSON WEB TOKENS):</a:t>
            </a:r>
          </a:p>
          <a:p>
            <a:r>
              <a:t>Q: "What's a JWT?"</a:t>
            </a:r>
          </a:p>
          <a:p>
            <a:r>
              <a:t>A: A digitally signed package containing user identity and permissions. Like a tamper-proof ID card.</a:t>
            </a:r>
          </a:p>
          <a:p/>
          <a:p>
            <a:r>
              <a:t>Q: "Why three types of tokens?"</a:t>
            </a:r>
          </a:p>
          <a:p>
            <a:r>
              <a:t>A: Defense in depth. Each has different lifespan and purpose. If one is compromised, others remain secure.</a:t>
            </a:r>
          </a:p>
          <a:p/>
          <a:p>
            <a:r>
              <a:t>LOGIN TOKEN (5 minutes):</a:t>
            </a:r>
          </a:p>
          <a:p>
            <a:r>
              <a:t>Q: "Why so short?"</a:t>
            </a:r>
          </a:p>
          <a:p>
            <a:r>
              <a:t>A: Only used during initial login. Short lifespan minimizes exposure if intercepted.</a:t>
            </a:r>
          </a:p>
          <a:p/>
          <a:p>
            <a:r>
              <a:t>ACCESS TOKEN (1 hour):</a:t>
            </a:r>
          </a:p>
          <a:p>
            <a:r>
              <a:t>Q: "Why does it expire?"</a:t>
            </a:r>
          </a:p>
          <a:p>
            <a:r>
              <a:t>A: Limits damage if stolen. Attacker only has 1 hour to use it. Contains full permissions, so shorter is safer.</a:t>
            </a:r>
          </a:p>
          <a:p/>
          <a:p>
            <a:r>
              <a:t>REFRESH TOKEN (30 days):</a:t>
            </a:r>
          </a:p>
          <a:p>
            <a:r>
              <a:t>Q: "Why 30 days?"</a:t>
            </a:r>
          </a:p>
          <a:p>
            <a:r>
              <a:t>A: Balances security with user convenience. Users don't re-login constantly, but tokens aren't permanent.</a:t>
            </a:r>
          </a:p>
          <a:p/>
          <a:p>
            <a:r>
              <a:t>Q: "What if token is stolen?"</a:t>
            </a:r>
          </a:p>
          <a:p>
            <a:r>
              <a:t>A: We can revoke it instantly in database. All subsequent requests with that token fail immediately.</a:t>
            </a:r>
          </a:p>
          <a:p/>
          <a:p>
            <a:r>
              <a:t>SHA-256 SIGNATURE:</a:t>
            </a:r>
          </a:p>
          <a:p>
            <a:r>
              <a:t>Q: "What's this?"</a:t>
            </a:r>
          </a:p>
          <a:p>
            <a:r>
              <a:t>A: Cryptographic hash proving token wasn't tampered with. Any modification = signature fails = rejected.</a:t>
            </a:r>
          </a:p>
          <a:p/>
          <a:p>
            <a:r>
              <a:t>WORKSPACE ISOLATION:</a:t>
            </a:r>
          </a:p>
          <a:p>
            <a:r>
              <a:t>Q: "What does this mean?"</a:t>
            </a:r>
          </a:p>
          <a:p>
            <a:r>
              <a:t>A: Tokens only work for one company's workspace. Can't be used to access other organizations' data.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DATA ENCRYPTION - Detailed Explanations:</a:t>
            </a:r>
          </a:p>
          <a:p/>
          <a:p>
            <a:r>
              <a:t>AES-256-CTR:</a:t>
            </a:r>
          </a:p>
          <a:p>
            <a:r>
              <a:t>Q: "What's AES-256?"</a:t>
            </a:r>
          </a:p>
          <a:p>
            <a:r>
              <a:t>A: Advanced Encryption Standard with 256-bit keys. Military-grade encryption used by governments and banks. Would take billions of years to crack with current technology.</a:t>
            </a:r>
          </a:p>
          <a:p/>
          <a:p>
            <a:r>
              <a:t>Q: "What's CTR mode?"</a:t>
            </a:r>
          </a:p>
          <a:p>
            <a:r>
              <a:t>A: Counter mode - a specific way to apply encryption that's fast and secure. Used by major tech companies.</a:t>
            </a:r>
          </a:p>
          <a:p/>
          <a:p>
            <a:r>
              <a:t>INITIALIZATION VECTOR (IV):</a:t>
            </a:r>
          </a:p>
          <a:p>
            <a:r>
              <a:t>Q: "What's an IV?"</a:t>
            </a:r>
          </a:p>
          <a:p>
            <a:r>
              <a:t>A: Random data that ensures identical data encrypts differently each time. Like using a different key for each lock.</a:t>
            </a:r>
          </a:p>
          <a:p/>
          <a:p>
            <a:r>
              <a:t>SHA-512 KEY HASHING:</a:t>
            </a:r>
          </a:p>
          <a:p>
            <a:r>
              <a:t>Q: "Why hash the key?"</a:t>
            </a:r>
          </a:p>
          <a:p>
            <a:r>
              <a:t>A: Creates a 512-bit hash from our encryption key, making it even harder to crack.</a:t>
            </a:r>
          </a:p>
          <a:p/>
          <a:p>
            <a:r>
              <a:t>BASE64 STORAGE:</a:t>
            </a:r>
          </a:p>
          <a:p>
            <a:r>
              <a:t>Q: "What's base64?"</a:t>
            </a:r>
          </a:p>
          <a:p>
            <a:r>
              <a:t>A: A way to store binary encrypted data as text in database. Standard practice.</a:t>
            </a:r>
          </a:p>
          <a:p/>
          <a:p>
            <a:r>
              <a:t>TLS 1.3:</a:t>
            </a:r>
          </a:p>
          <a:p>
            <a:r>
              <a:t>Q: "What's TLS?"</a:t>
            </a:r>
          </a:p>
          <a:p>
            <a:r>
              <a:t>A: Transport Layer Security - the 'S' in HTTPS. Version 1.3 is the latest, fastest, most secure.</a:t>
            </a:r>
          </a:p>
          <a:p/>
          <a:p>
            <a:r>
              <a:t>Q: "What's it protect against?"</a:t>
            </a:r>
          </a:p>
          <a:p>
            <a:r>
              <a:t>A: Eavesdropping, tampering, message forgery. Ensures data can't be read or modified in transit.</a:t>
            </a:r>
          </a:p>
          <a:p/>
          <a:p>
            <a:r>
              <a:t>PERFECT FORWARD SECRECY (PFS):</a:t>
            </a:r>
          </a:p>
          <a:p>
            <a:r>
              <a:t>Q: "What's PFS?"</a:t>
            </a:r>
          </a:p>
          <a:p>
            <a:r>
              <a:t>A: Even if encryption keys are compromised later, past communications remain secure. Each session uses unique keys.</a:t>
            </a:r>
          </a:p>
          <a:p/>
          <a:p>
            <a:r>
              <a:t>CERTIFICATE-BASED AUTHENTICATION:</a:t>
            </a:r>
          </a:p>
          <a:p>
            <a:r>
              <a:t>Q: "What are certificates?"</a:t>
            </a:r>
          </a:p>
          <a:p>
            <a:r>
              <a:t>A: Digital documents proving server identity, issued by trusted authorities. Like a passport for websites.</a:t>
            </a:r>
          </a:p>
          <a:p/>
          <a:p>
            <a:r>
              <a:t>MAN-IN-THE-MIDDLE ATTACKS:</a:t>
            </a:r>
          </a:p>
          <a:p>
            <a:r>
              <a:t>Q: "What's this?"</a:t>
            </a:r>
          </a:p>
          <a:p>
            <a:r>
              <a:t>A: Attacker intercepts communication between two parties. TLS 1.3 prevents this through certificate validation.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ROLE-BASED ACCESS CONTROL (RBAC) - Detailed Explanations:</a:t>
            </a:r>
          </a:p>
          <a:p/>
          <a:p>
            <a:r>
              <a:t>WHAT IS RBAC?</a:t>
            </a:r>
          </a:p>
          <a:p>
            <a:r>
              <a:t>Q: "What's RBAC?"</a:t>
            </a:r>
          </a:p>
          <a:p>
            <a:r>
              <a:t>A: Role-Based Access Control. Users are assigned roles (Admin, Member, etc.), and roles have specific permissions. Easier than managing permissions per person.</a:t>
            </a:r>
          </a:p>
          <a:p/>
          <a:p>
            <a:r>
              <a:t>22 PERMISSION CATEGORIES:</a:t>
            </a:r>
          </a:p>
          <a:p>
            <a:r>
              <a:t>Q: "Why so many?"</a:t>
            </a:r>
          </a:p>
          <a:p>
            <a:r>
              <a:t>A: Granular control. We can give someone access to export data but not delete it. Sales can see leads but not billing.</a:t>
            </a:r>
          </a:p>
          <a:p/>
          <a:p>
            <a:r>
              <a:t>WORKSPACE PERMISSIONS:</a:t>
            </a:r>
          </a:p>
          <a:p>
            <a:r>
              <a:t>Q: "What can Workspace permission do?"</a:t>
            </a:r>
          </a:p>
          <a:p>
            <a:r>
              <a:t>A: Change company name, logo, global settings. Typically only executives and IT.</a:t>
            </a:r>
          </a:p>
          <a:p/>
          <a:p>
            <a:r>
              <a:t>MEMBERS PERMISSION:</a:t>
            </a:r>
          </a:p>
          <a:p>
            <a:r>
              <a:t>Q: "Who should have this?"</a:t>
            </a:r>
          </a:p>
          <a:p>
            <a:r>
              <a:t>A: HR and managers who need to add/remove employees.</a:t>
            </a:r>
          </a:p>
          <a:p/>
          <a:p>
            <a:r>
              <a:t>ROLES PERMISSION:</a:t>
            </a:r>
          </a:p>
          <a:p>
            <a:r>
              <a:t>Q: "Why separate from Members?"</a:t>
            </a:r>
          </a:p>
          <a:p>
            <a:r>
              <a:t>A: Prevents accidental privilege escalation. Only IT/Security should create roles.</a:t>
            </a:r>
          </a:p>
          <a:p/>
          <a:p>
            <a:r>
              <a:t>DATA MODEL:</a:t>
            </a:r>
          </a:p>
          <a:p>
            <a:r>
              <a:t>Q: "What's this?"</a:t>
            </a:r>
          </a:p>
          <a:p>
            <a:r>
              <a:t>A: Ability to add custom fields, create new object types. Developers and power users only.</a:t>
            </a:r>
          </a:p>
          <a:p/>
          <a:p>
            <a:r>
              <a:t>SECURITY PERMISSION:</a:t>
            </a:r>
          </a:p>
          <a:p>
            <a:r>
              <a:t>Q: "What does this control?"</a:t>
            </a:r>
          </a:p>
          <a:p>
            <a:r>
              <a:t>A: Toggle 2FA, change auth methods, view security logs. Critical - limit to IT/Security team.</a:t>
            </a:r>
          </a:p>
          <a:p/>
          <a:p>
            <a:r>
              <a:t>BILLING:</a:t>
            </a:r>
          </a:p>
          <a:p>
            <a:r>
              <a:t>Q: "Who needs this?"</a:t>
            </a:r>
          </a:p>
          <a:p>
            <a:r>
              <a:t>A: Finance team, CFO. Nobody else should see payment details or subscription info.</a:t>
            </a:r>
          </a:p>
          <a:p/>
          <a:p>
            <a:r>
              <a:t>FIELD-LEVEL PERMISSIONS:</a:t>
            </a:r>
          </a:p>
          <a:p>
            <a:r>
              <a:t>Q: "Can you give an example?"</a:t>
            </a:r>
          </a:p>
          <a:p>
            <a:r>
              <a:t>A: Sales manager can READ revenue fields but can't UPDATE them. Only finance can update. Prevents data manipulation.</a:t>
            </a:r>
          </a:p>
          <a:p/>
          <a:p>
            <a:r>
              <a:t>Q: "How granular?"</a:t>
            </a:r>
          </a:p>
          <a:p>
            <a:r>
              <a:t>A: Down to individual fields. Can hide salary from HR recruiters but show to payroll team.</a:t>
            </a:r>
          </a:p>
          <a:p/>
          <a:p>
            <a:r>
              <a:t>PRACTICAL EXAMPLE:</a:t>
            </a:r>
          </a:p>
          <a:p>
            <a:r>
              <a:t>Junior sales rep:</a:t>
            </a:r>
          </a:p>
          <a:p>
            <a:r>
              <a:t>- CAN: View leads, update contact info, add notes</a:t>
            </a:r>
          </a:p>
          <a:p>
            <a:r>
              <a:t>- CANNOT: Delete leads, see revenue, export data, access billing</a:t>
            </a:r>
          </a:p>
          <a:p/>
          <a:p>
            <a:r>
              <a:t>Sales manager:</a:t>
            </a:r>
          </a:p>
          <a:p>
            <a:r>
              <a:t>- CAN: Everything junior can + see revenue, export reports</a:t>
            </a:r>
          </a:p>
          <a:p>
            <a:r>
              <a:t>- CANNOT: Delete other people's data, access billing</a:t>
            </a:r>
          </a:p>
          <a:p/>
          <a:p>
            <a:r>
              <a:t>Admin (IT):</a:t>
            </a:r>
          </a:p>
          <a:p>
            <a:r>
              <a:t>- CAN: Everything including user management, security settings</a:t>
            </a:r>
          </a:p>
          <a:p>
            <a:r>
              <a:t>- CANNOT: (Optionally) Access certain executive-level data</a:t>
            </a:r>
          </a:p>
          <a:p/>
          <a:p>
            <a:r>
              <a:t>This prevents insider threats and accidental data exposure.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F23"/>
            </a:gs>
            <a:gs pos="100000">
              <a:srgbClr val="142855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wanson logo full (1)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2358887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Tracepoint Security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4B5F6"/>
                </a:solidFill>
              </a:defRPr>
            </a:pPr>
            <a:r>
              <a:t>Enterprise-Grade Security for Swanson's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4864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8C8C8"/>
                </a:solidFill>
              </a:defRPr>
            </a:pPr>
            <a:r>
              <a:t>Presented by: Wayne Lytle</a:t>
            </a:r>
          </a:p>
          <a:p>
            <a:r>
              <a:t>Swanson Industries IT Department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192F"/>
            </a:gs>
            <a:gs pos="100000">
              <a:srgbClr val="1E3C72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4672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B4B4B4"/>
                </a:solidFill>
              </a:defRPr>
            </a:pPr>
            <a:r>
              <a:t>2/12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1. Authentication System 🛡️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800" b="1">
                <a:solidFill>
                  <a:srgbClr val="64B5F6"/>
                </a:solidFill>
              </a:defRPr>
            </a:pPr>
            <a:r>
              <a:t>Multi-Layer Password Protection</a:t>
            </a:r>
          </a:p>
          <a:p>
            <a:pPr lvl="1">
              <a:spcAft>
                <a:spcPts val="300"/>
              </a:spcAft>
              <a:defRPr sz="1400">
                <a:solidFill>
                  <a:srgbClr val="FFFFFF"/>
                </a:solidFill>
              </a:defRPr>
            </a:pPr>
            <a:r>
              <a:t>• Bcrypt hashing with 10 salt rounds (industry standard)</a:t>
            </a:r>
          </a:p>
          <a:p>
            <a:pPr lvl="1">
              <a:spcAft>
                <a:spcPts val="300"/>
              </a:spcAft>
              <a:defRPr sz="1400">
                <a:solidFill>
                  <a:srgbClr val="FFFFFF"/>
                </a:solidFill>
              </a:defRPr>
            </a:pPr>
            <a:r>
              <a:t>• One-way encryption - passwords cannot be decrypted</a:t>
            </a:r>
          </a:p>
          <a:p>
            <a:pPr lvl="1">
              <a:spcAft>
                <a:spcPts val="300"/>
              </a:spcAft>
              <a:defRPr sz="1400">
                <a:solidFill>
                  <a:srgbClr val="FFFFFF"/>
                </a:solidFill>
              </a:defRPr>
            </a:pPr>
            <a:r>
              <a:t>• Minimum 8 characters enforced</a:t>
            </a:r>
          </a:p>
          <a:p>
            <a:pPr lvl="1">
              <a:spcAft>
                <a:spcPts val="300"/>
              </a:spcAft>
              <a:defRPr sz="1400">
                <a:solidFill>
                  <a:srgbClr val="FFFFFF"/>
                </a:solidFill>
              </a:defRPr>
            </a:pPr>
            <a:r>
              <a:t>• Rainbow table protection via unique salts</a:t>
            </a:r>
          </a:p>
          <a:p/>
          <a:p>
            <a:pPr>
              <a:spcAft>
                <a:spcPts val="600"/>
              </a:spcAft>
              <a:defRPr sz="1800" b="1">
                <a:solidFill>
                  <a:srgbClr val="64B5F6"/>
                </a:solidFill>
              </a:defRPr>
            </a:pPr>
            <a:r>
              <a:t>OAuth 2.0 Integration (Enterprise SSO)</a:t>
            </a:r>
          </a:p>
          <a:p>
            <a:pPr lvl="1">
              <a:spcAft>
                <a:spcPts val="300"/>
              </a:spcAft>
              <a:defRPr sz="1400">
                <a:solidFill>
                  <a:srgbClr val="FFFFFF"/>
                </a:solidFill>
              </a:defRPr>
            </a:pPr>
            <a:r>
              <a:t>• Google OAuth - OpenID Connect certified</a:t>
            </a:r>
          </a:p>
          <a:p>
            <a:pPr lvl="1">
              <a:spcAft>
                <a:spcPts val="300"/>
              </a:spcAft>
              <a:defRPr sz="1400">
                <a:solidFill>
                  <a:srgbClr val="FFFFFF"/>
                </a:solidFill>
              </a:defRPr>
            </a:pPr>
            <a:r>
              <a:t>• Microsoft Azure AD - SAML 2.0 compliant</a:t>
            </a:r>
          </a:p>
          <a:p>
            <a:pPr lvl="1">
              <a:spcAft>
                <a:spcPts val="300"/>
              </a:spcAft>
              <a:defRPr sz="1400">
                <a:solidFill>
                  <a:srgbClr val="FFFFFF"/>
                </a:solidFill>
              </a:defRPr>
            </a:pPr>
            <a:r>
              <a:t>• Custom SSO available for enterprise needs</a:t>
            </a:r>
          </a:p>
          <a:p>
            <a:pPr lvl="1">
              <a:spcAft>
                <a:spcPts val="300"/>
              </a:spcAft>
              <a:defRPr sz="1400">
                <a:solidFill>
                  <a:srgbClr val="FFFFFF"/>
                </a:solidFill>
              </a:defRPr>
            </a:pPr>
            <a:r>
              <a:t>• No password storage - delegated to trusted providers</a:t>
            </a:r>
          </a:p>
          <a:p/>
          <a:p>
            <a:pPr>
              <a:spcAft>
                <a:spcPts val="600"/>
              </a:spcAft>
              <a:defRPr sz="1800" b="1">
                <a:solidFill>
                  <a:srgbClr val="64B5F6"/>
                </a:solidFill>
              </a:defRPr>
            </a:pPr>
            <a:r>
              <a:t>Two-Factor Authentication (2FA)</a:t>
            </a:r>
          </a:p>
          <a:p>
            <a:pPr lvl="1">
              <a:spcAft>
                <a:spcPts val="300"/>
              </a:spcAft>
              <a:defRPr sz="1400">
                <a:solidFill>
                  <a:srgbClr val="FFFFFF"/>
                </a:solidFill>
              </a:defRPr>
            </a:pPr>
            <a:r>
              <a:t>• TOTP (Time-based One-Time Password)</a:t>
            </a:r>
          </a:p>
          <a:p>
            <a:pPr lvl="1">
              <a:spcAft>
                <a:spcPts val="300"/>
              </a:spcAft>
              <a:defRPr sz="1400">
                <a:solidFill>
                  <a:srgbClr val="FFFFFF"/>
                </a:solidFill>
              </a:defRPr>
            </a:pPr>
            <a:r>
              <a:t>• 6-digit codes rotating every 30 seconds</a:t>
            </a:r>
          </a:p>
          <a:p>
            <a:pPr lvl="1">
              <a:spcAft>
                <a:spcPts val="300"/>
              </a:spcAft>
              <a:defRPr sz="1400">
                <a:solidFill>
                  <a:srgbClr val="FFFFFF"/>
                </a:solidFill>
              </a:defRPr>
            </a:pPr>
            <a:r>
              <a:t>• RFC 6238 compliant (Google Authenticator standard)</a:t>
            </a:r>
          </a:p>
          <a:p>
            <a:pPr lvl="1">
              <a:spcAft>
                <a:spcPts val="300"/>
              </a:spcAft>
              <a:defRPr sz="1400">
                <a:solidFill>
                  <a:srgbClr val="FFFFFF"/>
                </a:solidFill>
              </a:defRPr>
            </a:pPr>
            <a:r>
              <a:t>• Workspace-level enforcement capability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192F"/>
            </a:gs>
            <a:gs pos="100000">
              <a:srgbClr val="1E3C72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4672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B4B4B4"/>
                </a:solidFill>
              </a:defRPr>
            </a:pPr>
            <a:r>
              <a:t>3/12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2. Token-Based Session Management 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000" b="1">
                <a:solidFill>
                  <a:srgbClr val="64B5F6"/>
                </a:solidFill>
              </a:defRPr>
            </a:pPr>
            <a:r>
              <a:t>JWT (JSON Web Tokens) - Three-Tier System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Login Token (5 minutes)</a:t>
            </a:r>
          </a:p>
          <a:p>
            <a:pPr lvl="1">
              <a:defRPr sz="1300">
                <a:solidFill>
                  <a:srgbClr val="E6E6E6"/>
                </a:solidFill>
              </a:defRPr>
            </a:pPr>
            <a:r>
              <a:t>• Purpose: Initial authentication</a:t>
            </a:r>
          </a:p>
          <a:p>
            <a:pPr lvl="1">
              <a:spcAft>
                <a:spcPts val="1000"/>
              </a:spcAft>
              <a:defRPr sz="1300">
                <a:solidFill>
                  <a:srgbClr val="E6E6E6"/>
                </a:solidFill>
              </a:defRPr>
            </a:pPr>
            <a:r>
              <a:t>• Security: Short-lived, workspace-specific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Access Token (1 hour)</a:t>
            </a:r>
          </a:p>
          <a:p>
            <a:pPr lvl="1">
              <a:defRPr sz="1300">
                <a:solidFill>
                  <a:srgbClr val="E6E6E6"/>
                </a:solidFill>
              </a:defRPr>
            </a:pPr>
            <a:r>
              <a:t>• Purpose: API requests</a:t>
            </a:r>
          </a:p>
          <a:p>
            <a:pPr lvl="1">
              <a:spcAft>
                <a:spcPts val="1000"/>
              </a:spcAft>
              <a:defRPr sz="1300">
                <a:solidFill>
                  <a:srgbClr val="E6E6E6"/>
                </a:solidFill>
              </a:defRPr>
            </a:pPr>
            <a:r>
              <a:t>• Security: Contains user permissions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Refresh Token (30 days)</a:t>
            </a:r>
          </a:p>
          <a:p>
            <a:pPr lvl="1">
              <a:defRPr sz="1300">
                <a:solidFill>
                  <a:srgbClr val="E6E6E6"/>
                </a:solidFill>
              </a:defRPr>
            </a:pPr>
            <a:r>
              <a:t>• Purpose: Renew access</a:t>
            </a:r>
          </a:p>
          <a:p>
            <a:pPr lvl="1">
              <a:spcAft>
                <a:spcPts val="1000"/>
              </a:spcAft>
              <a:defRPr sz="1300">
                <a:solidFill>
                  <a:srgbClr val="E6E6E6"/>
                </a:solidFill>
              </a:defRPr>
            </a:pPr>
            <a:r>
              <a:t>• Security: Revocable instantly</a:t>
            </a:r>
          </a:p>
          <a:p>
            <a:pPr>
              <a:spcBef>
                <a:spcPts val="1000"/>
              </a:spcBef>
              <a:defRPr sz="1600" b="1">
                <a:solidFill>
                  <a:srgbClr val="64B5F6"/>
                </a:solidFill>
              </a:defRPr>
            </a:pPr>
            <a:r>
              <a:t>Token Security Features:</a:t>
            </a:r>
          </a:p>
          <a:p>
            <a:pPr lvl="1">
              <a:defRPr sz="1400">
                <a:solidFill>
                  <a:srgbClr val="4CAF50"/>
                </a:solidFill>
              </a:defRPr>
            </a:pPr>
            <a:r>
              <a:t>✓ Cryptographic signature verification (SHA-256)</a:t>
            </a:r>
          </a:p>
          <a:p>
            <a:pPr lvl="1">
              <a:defRPr sz="1400">
                <a:solidFill>
                  <a:srgbClr val="4CAF50"/>
                </a:solidFill>
              </a:defRPr>
            </a:pPr>
            <a:r>
              <a:t>✓ Automatic expiration enforcement</a:t>
            </a:r>
          </a:p>
          <a:p>
            <a:pPr lvl="1">
              <a:defRPr sz="1400">
                <a:solidFill>
                  <a:srgbClr val="4CAF50"/>
                </a:solidFill>
              </a:defRPr>
            </a:pPr>
            <a:r>
              <a:t>✓ Workspace-specific isolation</a:t>
            </a:r>
          </a:p>
          <a:p>
            <a:pPr lvl="1">
              <a:defRPr sz="1400">
                <a:solidFill>
                  <a:srgbClr val="4CAF50"/>
                </a:solidFill>
              </a:defRPr>
            </a:pPr>
            <a:r>
              <a:t>✓ Instant revocation capability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192F"/>
            </a:gs>
            <a:gs pos="100000">
              <a:srgbClr val="1E3C72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4672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B4B4B4"/>
                </a:solidFill>
              </a:defRPr>
            </a:pPr>
            <a:r>
              <a:t>4/12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3. Data Encryption 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2000" b="1">
                <a:solidFill>
                  <a:srgbClr val="64B5F6"/>
                </a:solidFill>
              </a:defRPr>
            </a:pPr>
            <a:r>
              <a:t>Encryption at Rest (AES-256-CTR)</a:t>
            </a:r>
          </a:p>
          <a:p>
            <a:pPr lvl="1">
              <a:defRPr sz="1400">
                <a:solidFill>
                  <a:srgbClr val="FFFFFF"/>
                </a:solidFill>
              </a:defRPr>
            </a:pPr>
            <a:r>
              <a:t>✓ OAuth refresh tokens and access credentials</a:t>
            </a:r>
          </a:p>
          <a:p>
            <a:pPr lvl="1">
              <a:defRPr sz="1400">
                <a:solidFill>
                  <a:srgbClr val="FFFFFF"/>
                </a:solidFill>
              </a:defRPr>
            </a:pPr>
            <a:r>
              <a:t>✓ API keys and webhook secrets</a:t>
            </a:r>
          </a:p>
          <a:p>
            <a:pPr lvl="1">
              <a:defRPr sz="1400">
                <a:solidFill>
                  <a:srgbClr val="FFFFFF"/>
                </a:solidFill>
              </a:defRPr>
            </a:pPr>
            <a:r>
              <a:t>✓ Connected account authentication data</a:t>
            </a:r>
          </a:p>
          <a:p>
            <a:pPr lvl="1">
              <a:defRPr sz="1400">
                <a:solidFill>
                  <a:srgbClr val="FFFFFF"/>
                </a:solidFill>
              </a:defRPr>
            </a:pPr>
            <a:r>
              <a:t>✓ Sensitive customer information</a:t>
            </a:r>
          </a:p>
          <a:p>
            <a:br/>
            <a:pPr>
              <a:spcBef>
                <a:spcPts val="1200"/>
              </a:spcBef>
              <a:defRPr sz="1600" b="1">
                <a:solidFill>
                  <a:srgbClr val="FFFFFF"/>
                </a:solidFill>
              </a:defRPr>
            </a:pPr>
            <a:r>
              <a:t>Encryption Process:</a:t>
            </a:r>
          </a:p>
          <a:p>
            <a:pPr lvl="1">
              <a:defRPr sz="1300">
                <a:solidFill>
                  <a:srgbClr val="E6E6E6"/>
                </a:solidFill>
              </a:defRPr>
            </a:pPr>
            <a:r>
              <a:t>• Unique IV (Initialization Vector) per record</a:t>
            </a:r>
          </a:p>
          <a:p>
            <a:pPr lvl="1">
              <a:defRPr sz="1300">
                <a:solidFill>
                  <a:srgbClr val="E6E6E6"/>
                </a:solidFill>
              </a:defRPr>
            </a:pPr>
            <a:r>
              <a:t>• SHA-512 key hashing</a:t>
            </a:r>
          </a:p>
          <a:p>
            <a:pPr lvl="1">
              <a:defRPr sz="1300">
                <a:solidFill>
                  <a:srgbClr val="E6E6E6"/>
                </a:solidFill>
              </a:defRPr>
            </a:pPr>
            <a:r>
              <a:t>• Military-grade AES-256-CTR encryption</a:t>
            </a:r>
          </a:p>
          <a:p>
            <a:pPr lvl="1">
              <a:defRPr sz="1300">
                <a:solidFill>
                  <a:srgbClr val="E6E6E6"/>
                </a:solidFill>
              </a:defRPr>
            </a:pPr>
            <a:r>
              <a:t>• Secure base64 storage</a:t>
            </a:r>
          </a:p>
          <a:p>
            <a:br/>
            <a:pPr>
              <a:spcBef>
                <a:spcPts val="1500"/>
              </a:spcBef>
              <a:defRPr sz="2000" b="1">
                <a:solidFill>
                  <a:srgbClr val="64B5F6"/>
                </a:solidFill>
              </a:defRPr>
            </a:pPr>
            <a:r>
              <a:t>Encryption in Transit (HTTPS/TLS 1.3)</a:t>
            </a:r>
          </a:p>
          <a:p>
            <a:pPr lvl="1">
              <a:defRPr sz="1400">
                <a:solidFill>
                  <a:srgbClr val="FFFFFF"/>
                </a:solidFill>
              </a:defRPr>
            </a:pPr>
            <a:r>
              <a:t>✓ All API traffic encrypted end-to-end</a:t>
            </a:r>
          </a:p>
          <a:p>
            <a:pPr lvl="1">
              <a:defRPr sz="1400">
                <a:solidFill>
                  <a:srgbClr val="FFFFFF"/>
                </a:solidFill>
              </a:defRPr>
            </a:pPr>
            <a:r>
              <a:t>✓ Certificate-based authentication</a:t>
            </a:r>
          </a:p>
          <a:p>
            <a:pPr lvl="1">
              <a:defRPr sz="1400">
                <a:solidFill>
                  <a:srgbClr val="FFFFFF"/>
                </a:solidFill>
              </a:defRPr>
            </a:pPr>
            <a:r>
              <a:t>✓ Perfect forward secrecy (PFS)</a:t>
            </a:r>
          </a:p>
          <a:p>
            <a:pPr lvl="1">
              <a:defRPr sz="1400">
                <a:solidFill>
                  <a:srgbClr val="FFFFFF"/>
                </a:solidFill>
              </a:defRPr>
            </a:pPr>
            <a:r>
              <a:t>✓ Protection against man-in-the-middle attacks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192F"/>
            </a:gs>
            <a:gs pos="100000">
              <a:srgbClr val="1E3C72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4672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B4B4B4"/>
                </a:solidFill>
              </a:defRPr>
            </a:pPr>
            <a:r>
              <a:t>5/12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4. Role-Based Access Control (RBAC) 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1800" b="1">
                <a:solidFill>
                  <a:srgbClr val="64B5F6"/>
                </a:solidFill>
              </a:defRPr>
            </a:pPr>
            <a:r>
              <a:t>Granular Permission System (22 Categories)</a:t>
            </a:r>
          </a:p>
          <a:p>
            <a:pPr>
              <a:spcBef>
                <a:spcPts val="800"/>
              </a:spcBef>
              <a:defRPr sz="1600" b="1">
                <a:solidFill>
                  <a:srgbClr val="FFC107"/>
                </a:solidFill>
              </a:defRPr>
            </a:pPr>
            <a:r>
              <a:t>Settings Permissions</a:t>
            </a:r>
          </a:p>
          <a:p>
            <a:pPr lvl="1">
              <a:defRPr sz="1300">
                <a:solidFill>
                  <a:srgbClr val="FFFFFF"/>
                </a:solidFill>
              </a:defRPr>
            </a:pPr>
            <a:r>
              <a:t>• Workspace - Global settings management</a:t>
            </a:r>
          </a:p>
          <a:p>
            <a:pPr lvl="1">
              <a:defRPr sz="1300">
                <a:solidFill>
                  <a:srgbClr val="FFFFFF"/>
                </a:solidFill>
              </a:defRPr>
            </a:pPr>
            <a:r>
              <a:t>• Members - User access control</a:t>
            </a:r>
          </a:p>
          <a:p>
            <a:pPr lvl="1">
              <a:defRPr sz="1300">
                <a:solidFill>
                  <a:srgbClr val="FFFFFF"/>
                </a:solidFill>
              </a:defRPr>
            </a:pPr>
            <a:r>
              <a:t>• Roles - Permission management</a:t>
            </a:r>
          </a:p>
          <a:p>
            <a:pPr lvl="1">
              <a:defRPr sz="1300">
                <a:solidFill>
                  <a:srgbClr val="FFFFFF"/>
                </a:solidFill>
              </a:defRPr>
            </a:pPr>
            <a:r>
              <a:t>• Data Model - Database schema control</a:t>
            </a:r>
          </a:p>
          <a:p>
            <a:pPr lvl="1">
              <a:defRPr sz="1300">
                <a:solidFill>
                  <a:srgbClr val="FFFFFF"/>
                </a:solidFill>
              </a:defRPr>
            </a:pPr>
            <a:r>
              <a:t>• Security - Authentication &amp; 2FA</a:t>
            </a:r>
          </a:p>
          <a:p>
            <a:pPr lvl="1">
              <a:defRPr sz="1300">
                <a:solidFill>
                  <a:srgbClr val="FFFFFF"/>
                </a:solidFill>
              </a:defRPr>
            </a:pPr>
            <a:r>
              <a:t>• Billing - Subscription management</a:t>
            </a:r>
          </a:p>
          <a:p>
            <a:pPr>
              <a:spcBef>
                <a:spcPts val="800"/>
              </a:spcBef>
              <a:defRPr sz="1600" b="1">
                <a:solidFill>
                  <a:srgbClr val="FFC107"/>
                </a:solidFill>
              </a:defRPr>
            </a:pPr>
            <a:r>
              <a:t>Tool Permissions</a:t>
            </a:r>
          </a:p>
          <a:p>
            <a:pPr lvl="1">
              <a:defRPr sz="1300">
                <a:solidFill>
                  <a:srgbClr val="FFFFFF"/>
                </a:solidFill>
              </a:defRPr>
            </a:pPr>
            <a:r>
              <a:t>• AI - AI agent interactions</a:t>
            </a:r>
          </a:p>
          <a:p>
            <a:pPr lvl="1">
              <a:defRPr sz="1300">
                <a:solidFill>
                  <a:srgbClr val="FFFFFF"/>
                </a:solidFill>
              </a:defRPr>
            </a:pPr>
            <a:r>
              <a:t>• Upload/Download Files - Document control</a:t>
            </a:r>
          </a:p>
          <a:p>
            <a:pPr lvl="1">
              <a:defRPr sz="1300">
                <a:solidFill>
                  <a:srgbClr val="FFFFFF"/>
                </a:solidFill>
              </a:defRPr>
            </a:pPr>
            <a:r>
              <a:t>• Export/Import CSV - Data portability</a:t>
            </a:r>
          </a:p>
          <a:p>
            <a:pPr lvl="1">
              <a:defRPr sz="1300">
                <a:solidFill>
                  <a:srgbClr val="FFFFFF"/>
                </a:solidFill>
              </a:defRPr>
            </a:pPr>
            <a:r>
              <a:t>• Send Email - Communication tools</a:t>
            </a:r>
          </a:p>
          <a:p>
            <a:br/>
            <a:pPr>
              <a:spcBef>
                <a:spcPts val="1200"/>
              </a:spcBef>
              <a:defRPr sz="1600" b="1">
                <a:solidFill>
                  <a:srgbClr val="64B5F6"/>
                </a:solidFill>
              </a:defRPr>
            </a:pPr>
            <a:r>
              <a:t>Field-Level Permissions</a:t>
            </a:r>
          </a:p>
          <a:p>
            <a:pPr lvl="1">
              <a:defRPr sz="1300">
                <a:solidFill>
                  <a:srgbClr val="FFFFFF"/>
                </a:solidFill>
              </a:defRPr>
            </a:pPr>
            <a:r>
              <a:t>Control access at individual field level (read, create, update, delete)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