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</a:t>
            </a:r>
            <a:br/>
            <a:r>
              <a:t>- Tracepoint is our in-house platform built specifically for Swanson.</a:t>
            </a:r>
            <a:br/>
            <a:r>
              <a:t>- This deck explains the security architecture backing the CAPEX request.</a:t>
            </a:r>
            <a:br/>
            <a:r>
              <a:t>Key message: We are using the same security patterns as banks and large SaaS vendors.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Authentication system:</a:t>
            </a:r>
            <a:br/>
            <a:r>
              <a:t>Bcrypt: Slow by design so brute-force guessing is impractical; even with leaked hashes,</a:t>
            </a:r>
            <a:br/>
            <a:r>
              <a:t>attackers need enormous compute to try passwords.</a:t>
            </a:r>
            <a:br/>
            <a:r>
              <a:t>10 salt rounds: The hash is recomputed 2^10 times; more rounds means more work for an attacker</a:t>
            </a:r>
            <a:br/>
            <a:r>
              <a:t>with almost no impact on a normal login.</a:t>
            </a:r>
            <a:br/>
            <a:r>
              <a:t>OAuth: We outsource identity checks to Google/Microsoft, so we never see those passwords.</a:t>
            </a:r>
            <a:br/>
            <a:r>
              <a:t>2FA/TOTP: Even if a password is stolen, an attacker still needs the one-time code from the</a:t>
            </a:r>
            <a:br/>
            <a:r>
              <a:t>user's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Token-based sessions:</a:t>
            </a:r>
            <a:br/>
            <a:r>
              <a:t>Login token: Very short-lived, only used during the sign-in flow to minimize exposure.</a:t>
            </a:r>
            <a:br/>
            <a:r>
              <a:t>Access token: Carries permissions for API calls; it expires in about an hour to cap risk.</a:t>
            </a:r>
            <a:br/>
            <a:r>
              <a:t>Refresh token: Longer-lived, but can be revoked instantly if we see suspicious behavior.</a:t>
            </a:r>
            <a:br/>
            <a:r>
              <a:t>JWT: Digitally signed so any tampering is detected immediately and the token is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encryption:</a:t>
            </a:r>
            <a:br/>
            <a:r>
              <a:t>AES-256 at rest: Same standard used by financial institutions; not realistically brute-forceable.</a:t>
            </a:r>
            <a:br/>
            <a:r>
              <a:t>IV per record: Even identical values encrypt differently, which hides patterns in the data.</a:t>
            </a:r>
            <a:br/>
            <a:r>
              <a:t>TLS 1.3 in transit: Protects against snooping and man-in-the-middle attacks on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Role-based access control (RBAC):</a:t>
            </a:r>
            <a:br/>
            <a:r>
              <a:t>Concept: We give people roles (Admin, Manager, Sales, etc.) and attach permissions to roles,</a:t>
            </a:r>
            <a:br/>
            <a:r>
              <a:t>not individuals. That makes access easier to reason about and audit.</a:t>
            </a:r>
            <a:br/>
            <a:r>
              <a:t>Granularity: 22 permission categories let us separate duties; for example, someone can export</a:t>
            </a:r>
            <a:br/>
            <a:r>
              <a:t>reports without being able to delete data or touch billing.</a:t>
            </a:r>
            <a:br/>
            <a:r>
              <a:t>Field-level control: We can allow a role to see a field like 'Revenue' but block edits, or</a:t>
            </a:r>
            <a:br/>
            <a:r>
              <a:t>hide sensitive fields such as salary from everyone except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security and keys:</a:t>
            </a:r>
            <a:br/>
            <a:r>
              <a:t>Service accounts: Integrations use API keys instead of user passwords, so people can change jobs</a:t>
            </a:r>
            <a:br/>
            <a:r>
              <a:t>without breaking systems.</a:t>
            </a:r>
            <a:br/>
            <a:r>
              <a:t>Scoped keys: Each key only has the minimum permissions it needs, based on the attached role.</a:t>
            </a:r>
            <a:br/>
            <a:r>
              <a:t>Revocation: If a key leaks, we disable it centrally and all access stops immediately.</a:t>
            </a:r>
            <a:br/>
            <a:r>
              <a:t>Rate limiting: Protects our backend from abuse and helps absorb accidental or malicious spikes.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Workspace isolation:</a:t>
            </a:r>
            <a:br/>
            <a:r>
              <a:t>Design: Each company's data lives in its own logical workspace, enforced at the database level.</a:t>
            </a:r>
            <a:br/>
            <a:r>
              <a:t>Effect: Even if an engineer or query is misconfigured, cross-workspace reads are blocked by design.</a:t>
            </a:r>
            <a:br/>
            <a:r>
              <a:t>Benefit: This is a strong guardrail against both coding mistakes and privilege misuse.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trail and monitoring:</a:t>
            </a:r>
            <a:br/>
            <a:r>
              <a:t>Coverage: We log logins, permission changes, exports, API key usage, and 2FA changes.</a:t>
            </a:r>
            <a:br/>
            <a:r>
              <a:t>Why it matters: If something looks odd - a spike in exports, a new admin role - we can answer</a:t>
            </a:r>
            <a:br/>
            <a:r>
              <a:t>who did what, from where, and when within seconds.</a:t>
            </a:r>
            <a:br/>
            <a:r>
              <a:t>Compliance: These logs support internal audits and external compliance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Attack prevention:</a:t>
            </a:r>
            <a:br/>
            <a:r>
              <a:t>Rate limits: Hard caps on login attempts, password resets, and API calls make brute-force and</a:t>
            </a:r>
            <a:br/>
            <a:r>
              <a:t>denial-of-service style abuse much harder.</a:t>
            </a:r>
            <a:br/>
            <a:r>
              <a:t>CAPTCHA options: We can turn on CAPTCHA for high-risk flows like login and password reset to</a:t>
            </a:r>
            <a:br/>
            <a:r>
              <a:t>slow down automated attacks.</a:t>
            </a:r>
            <a:br/>
            <a:r>
              <a:t>File controls: Upload size limits and validation protect storage and reduce the risk from</a:t>
            </a:r>
            <a:br/>
            <a:r>
              <a:t>malicious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and standards alignment:</a:t>
            </a:r>
            <a:br/>
            <a:r>
              <a:t>OWASP Top 10: The design explicitly addresses the top web risks, like injection and broken access</a:t>
            </a:r>
            <a:br/>
            <a:r>
              <a:t>control, using parameterized queries, strong auth, and strict permission checks.</a:t>
            </a:r>
            <a:br/>
            <a:r>
              <a:t>GDPR / SOC 2 / ISO 27001: We follow the patterns these frameworks expect: data minimization,</a:t>
            </a:r>
            <a:br/>
            <a:r>
              <a:t>access logging, and controlled change processes.</a:t>
            </a:r>
            <a:br/>
            <a:r>
              <a:t>Business translation: We are building Tracepoint in a way that will not become a compliance</a:t>
            </a:r>
            <a:br/>
            <a:r>
              <a:t>liability as the company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security posture:</a:t>
            </a:r>
            <a:br/>
            <a:r>
              <a:t>Implemented: Password hashing, SSO, encryption, RBAC, isolation, audit logging, and rate limits</a:t>
            </a:r>
            <a:br/>
            <a:r>
              <a:t>are already in place; this is not a slide of future promises.</a:t>
            </a:r>
            <a:br/>
            <a:r>
              <a:t>Maturity: We are operating at a level appropriate for a modern SaaS used by industrial customers,</a:t>
            </a:r>
            <a:br/>
            <a:r>
              <a:t>with clear room to tighten further over time.</a:t>
            </a:r>
            <a:br/>
            <a:r>
              <a:t>Message to execs: This CAPEX is about continuing to invest and stay ahead of risks, not fixing</a:t>
            </a:r>
            <a:br/>
            <a:r>
              <a:t>a broken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and closing:</a:t>
            </a:r>
            <a:br/>
            <a:r>
              <a:t>Core message: Tracepoint gives Swanson a platform where security is engineered in, not bolted on.</a:t>
            </a:r>
            <a:br/>
            <a:r>
              <a:t>Risk framing: The cost of building this correctly now is small compared to the potential impact</a:t>
            </a:r>
            <a:br/>
            <a:r>
              <a:t>of a breach or compliance failure later.</a:t>
            </a:r>
            <a:br/>
            <a:r>
              <a:t>Final line to emphasize: Swanson's data is protected by the same security standards used by banks</a:t>
            </a:r>
            <a:br/>
            <a:r>
              <a:t>and governments.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192A47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wanson logo full (1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358887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Tracepoint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Enterprise-Grade Security for Swanson's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9A9A9"/>
                </a:solidFill>
              </a:defRPr>
            </a:pPr>
            <a:r>
              <a:t>Presented by: Wayne Lytle</a:t>
            </a:r>
          </a:p>
          <a:p>
            <a:r>
              <a:t>Swanson Industries IT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1. Authentication System 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64B5F6"/>
                </a:solidFill>
              </a:defRPr>
            </a:pPr>
            <a:r>
              <a:t>Multi-Layer Password Protection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Bcrypt hashing with 10 salt rounds (industry standard)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One-way encryption - passwords cannot be decrypted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Minimum 8 characters enforced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Rainbow table protection via unique salts</a:t>
            </a:r>
          </a:p>
          <a:p/>
          <a:p>
            <a:pPr>
              <a:spcAft>
                <a:spcPts val="600"/>
              </a:spcAft>
              <a:defRPr sz="1800" b="1">
                <a:solidFill>
                  <a:srgbClr val="64B5F6"/>
                </a:solidFill>
              </a:defRPr>
            </a:pPr>
            <a:r>
              <a:t>OAuth 2.0 Integration (Enterprise SSO)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Google OAuth - OpenID Connect certified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Microsoft Azure AD - SAML 2.0 compliant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Custom SSO available for enterprise needs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No password storage - delegated to trusted providers</a:t>
            </a:r>
          </a:p>
          <a:p/>
          <a:p>
            <a:pPr>
              <a:spcAft>
                <a:spcPts val="600"/>
              </a:spcAft>
              <a:defRPr sz="1800" b="1">
                <a:solidFill>
                  <a:srgbClr val="64B5F6"/>
                </a:solidFill>
              </a:defRPr>
            </a:pPr>
            <a:r>
              <a:t>Two-Factor Authentication (2FA)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TOTP (Time-based One-Time Password)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6-digit codes rotating every 30 seconds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RFC 6238 compliant (Google Authenticator standard)</a:t>
            </a:r>
          </a:p>
          <a:p>
            <a:pPr lvl="1">
              <a:spcAft>
                <a:spcPts val="300"/>
              </a:spcAft>
              <a:defRPr sz="1400">
                <a:solidFill>
                  <a:srgbClr val="E0E0E0"/>
                </a:solidFill>
              </a:defRPr>
            </a:pPr>
            <a:r>
              <a:t>• Workspace-level enforcement capability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2. Token-Based Session Management 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JWT (JSON Web Tokens) - Three-Tier System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Login Token (5 minutes)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Purpose: Initial authentication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• Security: Short-lived, workspace-specific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Access Token (1 hour)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Purpose: API requests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• Security: Contains user permissions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Refresh Token (30 days)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Purpose: Renew access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• Security: Revocable instantly</a:t>
            </a:r>
          </a:p>
          <a:p>
            <a:pPr>
              <a:spcBef>
                <a:spcPts val="1000"/>
              </a:spcBef>
              <a:defRPr sz="1600" b="1">
                <a:solidFill>
                  <a:srgbClr val="64B5F6"/>
                </a:solidFill>
              </a:defRPr>
            </a:pPr>
            <a:r>
              <a:t>Token Security Features: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Cryptographic signature verification (SHA-256)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Automatic expiration enforcement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Workspace-specific isolation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Instant revocation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3. Data Encryption 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64B5F6"/>
                </a:solidFill>
              </a:defRPr>
            </a:pPr>
            <a:r>
              <a:t>Encryption at Rest (AES-256-CTR)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OAuth refresh tokens and access credentials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API keys and webhook secrets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Connected account authentication data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Sensitive customer information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Encryption Process: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Unique IV (Initialization Vector) per record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SHA-512 key hashing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Military-grade AES-256-CTR encryption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Secure base64 storage</a:t>
            </a:r>
          </a:p>
          <a:p>
            <a:br/>
            <a:pPr>
              <a:spcBef>
                <a:spcPts val="1500"/>
              </a:spcBef>
              <a:defRPr sz="2000" b="1">
                <a:solidFill>
                  <a:srgbClr val="64B5F6"/>
                </a:solidFill>
              </a:defRPr>
            </a:pPr>
            <a:r>
              <a:t>Encryption in Transit (HTTPS/TLS 1.3)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All API traffic encrypted end-to-end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Certificate-based authentication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Perfect forward secrecy (PFS)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Protection against man-in-the-middle attacks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4. Role-Based Access Control (RBAC) 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64B5F6"/>
                </a:solidFill>
              </a:defRPr>
            </a:pPr>
            <a:r>
              <a:t>Granular Permission System (22 Categories)</a:t>
            </a:r>
          </a:p>
          <a:p>
            <a:pPr>
              <a:spcBef>
                <a:spcPts val="800"/>
              </a:spcBef>
              <a:defRPr sz="1600" b="1">
                <a:solidFill>
                  <a:srgbClr val="FFC107"/>
                </a:solidFill>
              </a:defRPr>
            </a:pPr>
            <a:r>
              <a:t>Settings Permissions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Workspace - Global settings management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Members - User access control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Roles - Permission management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Data Model - Database schema control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Security - Authentication &amp; 2FA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Billing - Subscription management</a:t>
            </a:r>
          </a:p>
          <a:p>
            <a:pPr>
              <a:spcBef>
                <a:spcPts val="800"/>
              </a:spcBef>
              <a:defRPr sz="1600" b="1">
                <a:solidFill>
                  <a:srgbClr val="FFC107"/>
                </a:solidFill>
              </a:defRPr>
            </a:pPr>
            <a:r>
              <a:t>Tool Permissions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AI - AI agent interactions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Upload/Download Files - Document control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Export/Import CSV - Data portability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Send Email - Communication tools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64B5F6"/>
                </a:solidFill>
              </a:defRPr>
            </a:pPr>
            <a:r>
              <a:t>Field-Level Permissions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Control access at individual field level (read, create, update, delete)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5. API Security 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API Key Authentication for Integrations</a:t>
            </a:r>
          </a:p>
          <a:p>
            <a:pPr lvl="1">
              <a:defRPr sz="1500">
                <a:solidFill>
                  <a:srgbClr val="E0E0E0"/>
                </a:solidFill>
              </a:defRPr>
            </a:pPr>
            <a:r>
              <a:t>✓ Long-lived tokens for service accounts</a:t>
            </a:r>
          </a:p>
          <a:p>
            <a:pPr lvl="1">
              <a:defRPr sz="1500">
                <a:solidFill>
                  <a:srgbClr val="E0E0E0"/>
                </a:solidFill>
              </a:defRPr>
            </a:pPr>
            <a:r>
              <a:t>✓ Scoped permissions (inherit from role)</a:t>
            </a:r>
          </a:p>
          <a:p>
            <a:pPr lvl="1">
              <a:defRPr sz="1500">
                <a:solidFill>
                  <a:srgbClr val="E0E0E0"/>
                </a:solidFill>
              </a:defRPr>
            </a:pPr>
            <a:r>
              <a:t>✓ Instant revocation capability</a:t>
            </a:r>
          </a:p>
          <a:p>
            <a:pPr lvl="1">
              <a:defRPr sz="1500">
                <a:solidFill>
                  <a:srgbClr val="E0E0E0"/>
                </a:solidFill>
              </a:defRPr>
            </a:pPr>
            <a:r>
              <a:t>✓ Complete audit trail of all usage</a:t>
            </a:r>
          </a:p>
          <a:p>
            <a:br/>
            <a:pPr>
              <a:spcBef>
                <a:spcPts val="1500"/>
              </a:spcBef>
              <a:defRPr sz="1600" b="1">
                <a:solidFill>
                  <a:srgbClr val="FFFFFF"/>
                </a:solidFill>
              </a:defRPr>
            </a:pPr>
            <a:r>
              <a:t>API Key Structure Example:</a:t>
            </a:r>
          </a:p>
          <a:p>
            <a:pPr lvl="1">
              <a:defRPr sz="1400">
                <a:solidFill>
                  <a:srgbClr val="64DD17"/>
                </a:solidFill>
                <a:latin typeface="Courier New"/>
              </a:defRPr>
            </a:pPr>
            <a:r>
              <a:t>sk_a1b2c3d4_e5f6g7h8i9j0k1l2m3n4o5p6</a:t>
            </a:r>
          </a:p>
          <a:p>
            <a:br/>
            <a:pPr>
              <a:spcBef>
                <a:spcPts val="1500"/>
              </a:spcBef>
              <a:defRPr sz="1600" b="1">
                <a:solidFill>
                  <a:srgbClr val="FFFFFF"/>
                </a:solidFill>
              </a:defRPr>
            </a:pPr>
            <a:r>
              <a:t>Security Features: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256-bit entropy (cryptographically random)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Rate limited (1000 requests/minute default)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Workspace-specific prefix identification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Secure storage with encryption at 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6. Workspace Isolation 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Multi-Tenant Security Architecture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Complete Data Segregation: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Schema-level isolation in PostgreSQL database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Row-level security (RLS) policies enforced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Dedicated connection pooling per workspace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Separate encryption keys per workspace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Impossible to access another organization's data</a:t>
            </a:r>
          </a:p>
          <a:p>
            <a:br/>
            <a:pPr>
              <a:spcBef>
                <a:spcPts val="1500"/>
              </a:spcBef>
              <a:defRPr sz="1600" b="1">
                <a:solidFill>
                  <a:srgbClr val="FFFFFF"/>
                </a:solidFill>
              </a:defRPr>
            </a:pPr>
            <a:r>
              <a:t>Cross-Workspace Protection: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Tokens bound to workspace ID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All queries filtered by workspace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File storage completely segregated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No shared resources between workspaces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Zero data leakage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7. Audit Trail &amp; Monitoring 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Comprehensive Security Auditing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Logged Events: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Login attempts (success &amp; failure)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Password changes and resets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Permission and role changes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Data exports and imports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API key creation/revocation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2FA enable/disable events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✓ User impersonation activities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Audit Capabilities: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Real-time monitoring dashboard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Historical audit log queries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IP address tracking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Timestamp precision to milliseconds</a:t>
            </a:r>
          </a:p>
          <a:p>
            <a:pPr lvl="1">
              <a:defRPr sz="1400">
                <a:solidFill>
                  <a:srgbClr val="E0E0E0"/>
                </a:solidFill>
              </a:defRPr>
            </a:pPr>
            <a:r>
              <a:t>• Exportable compliance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8. Attack Prevention &amp; Protection 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64B5F6"/>
                </a:solidFill>
              </a:defRPr>
            </a:pPr>
            <a:r>
              <a:t>Rate Limiting &amp; Brute Force Prevention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Login Attempts: 5 per 15 minutes</a:t>
            </a:r>
          </a:p>
          <a:p>
            <a:pPr lvl="1">
              <a:spcAft>
                <a:spcPts val="600"/>
              </a:spcAft>
              <a:defRPr sz="1200">
                <a:solidFill>
                  <a:srgbClr val="E0E0E0"/>
                </a:solidFill>
              </a:defRPr>
            </a:pPr>
            <a:r>
              <a:t>→ Prevents brute force attacks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Password Reset: 3 per hour</a:t>
            </a:r>
          </a:p>
          <a:p>
            <a:pPr lvl="1">
              <a:spcAft>
                <a:spcPts val="600"/>
              </a:spcAft>
              <a:defRPr sz="1200">
                <a:solidFill>
                  <a:srgbClr val="E0E0E0"/>
                </a:solidFill>
              </a:defRPr>
            </a:pPr>
            <a:r>
              <a:t>→ Prevents reset abuse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API Requests: 1000 per minute</a:t>
            </a:r>
          </a:p>
          <a:p>
            <a:pPr lvl="1">
              <a:spcAft>
                <a:spcPts val="600"/>
              </a:spcAft>
              <a:defRPr sz="1200">
                <a:solidFill>
                  <a:srgbClr val="E0E0E0"/>
                </a:solidFill>
              </a:defRPr>
            </a:pPr>
            <a:r>
              <a:t>→ DDoS protection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File Uploads: 100MB max size</a:t>
            </a:r>
          </a:p>
          <a:p>
            <a:pPr lvl="1">
              <a:spcAft>
                <a:spcPts val="600"/>
              </a:spcAft>
              <a:defRPr sz="1200">
                <a:solidFill>
                  <a:srgbClr val="E0E0E0"/>
                </a:solidFill>
              </a:defRPr>
            </a:pPr>
            <a:r>
              <a:t>→ Prevents resource exhaustion</a:t>
            </a:r>
          </a:p>
          <a:p>
            <a:br/>
            <a:pPr>
              <a:spcBef>
                <a:spcPts val="1200"/>
              </a:spcBef>
              <a:defRPr sz="1800" b="1">
                <a:solidFill>
                  <a:srgbClr val="64B5F6"/>
                </a:solidFill>
              </a:defRPr>
            </a:pPr>
            <a:r>
              <a:t>CAPTCHA Protection (Optional)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Configurable for login, signup, password reset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Google reCAPTCHA v3 support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hCaptcha support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Cloudflare Turnstile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9. Compliance &amp; Industry Standards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Security Compliance Standards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✓ OWASP Top 10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Protected against all major web vulnerabilities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✓ GDPR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Data portability, right to deletion, consent management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✓ SOC 2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Comprehensive security controls and monitoring</a:t>
            </a:r>
          </a:p>
          <a:p>
            <a:pPr>
              <a:defRPr sz="1600" b="1">
                <a:solidFill>
                  <a:srgbClr val="4CAF50"/>
                </a:solidFill>
              </a:defRPr>
            </a:pPr>
            <a:r>
              <a:t>✓ ISO 27001</a:t>
            </a:r>
          </a:p>
          <a:p>
            <a:pPr lvl="1">
              <a:spcAft>
                <a:spcPts val="1000"/>
              </a:spcAft>
              <a:defRPr sz="1300">
                <a:solidFill>
                  <a:srgbClr val="E0E0E0"/>
                </a:solidFill>
              </a:defRPr>
            </a:pPr>
            <a:r>
              <a:t>Information security management standards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OWASP Top 10 Protection: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Injection - Parameterized queries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Broken Authentication - JWT + 2FA + bcrypt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Sensitive Data Exposure - AES-256 encryption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XSS - React DOM sanitization</a:t>
            </a:r>
          </a:p>
          <a:p>
            <a:pPr lvl="1">
              <a:defRPr sz="1300">
                <a:solidFill>
                  <a:srgbClr val="E0E0E0"/>
                </a:solidFill>
              </a:defRPr>
            </a:pPr>
            <a:r>
              <a:t>• Broken Access Control - RBAC + field permissions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2C3E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9A9A9"/>
                </a:solidFill>
              </a:defRPr>
            </a:pPr>
            <a:r>
              <a:t>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10. Swanson's Security Posture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4CAF50"/>
                </a:solidFill>
              </a:defRPr>
            </a:pPr>
            <a:r>
              <a:t>✓ Currently Implemented &amp; Active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Password authentication with bcrypt hashing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Google OAuth 2.0 integration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JWT token-based session management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AES-256 data encryption (at rest)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HTTPS/TLS 1.3 (in transit)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Role-based access control (22 permission categories)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Field-level permissions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Workspace isolation &amp; multi-tenancy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Comprehensive audit logging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Rate limiting &amp; attack prevention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Two-Factor Authentication (2FA) ready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Regular password rotation enforced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API key security with quarterly rotation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Weekly audit log monitoring</a:t>
            </a:r>
          </a:p>
          <a:p>
            <a:pPr lvl="1">
              <a:defRPr sz="1200">
                <a:solidFill>
                  <a:srgbClr val="E0E0E0"/>
                </a:solidFill>
              </a:defRPr>
            </a:pPr>
            <a:r>
              <a:t>✓ Encrypted backup of security keys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03D"/>
            </a:gs>
            <a:gs pos="100000">
              <a:srgbClr val="192A47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wanson logo full (1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217920"/>
            <a:ext cx="1769165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Summary: Tracepoint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Military-grade encryption (AES-256, TLS 1.3, bcrypt)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Zero-trust architecture with JWT tokens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Enterprise SSO (Google, Microsoft, custom SAML)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Granular permissions (22 categories + field-level)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Attack prevention (rate limiting, audit logs)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✓ Industry compliance (GDPR, SOC 2, ISO 27001, OWASP)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B5F6"/>
                </a:solidFill>
              </a:defRPr>
            </a:pPr>
            <a:r>
              <a:t>Swanson's data is protected by the same security standards used by banks and governments.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