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F23"/>
            </a:gs>
            <a:gs pos="100000">
              <a:srgbClr val="14285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wanson logo full (1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358887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Tracepoint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B5F6"/>
                </a:solidFill>
              </a:defRPr>
            </a:pPr>
            <a:r>
              <a:t>AI-Orchestrated Business Operations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From Opportunity to Invoice - One Unified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7607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9A9A9"/>
                </a:solidFill>
              </a:defRPr>
            </a:pPr>
            <a:r>
              <a:t>CAPEX Proposal</a:t>
            </a:r>
          </a:p>
          <a:p>
            <a:r>
              <a:t>Presented by: Wayne Lytle</a:t>
            </a:r>
          </a:p>
          <a:p>
            <a:r>
              <a:t>Swanson Industries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Tracepoint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 b="1">
                <a:solidFill>
                  <a:srgbClr val="64B5F6"/>
                </a:solidFill>
              </a:defRPr>
            </a:pPr>
            <a:r>
              <a:t>Unified Business Operations Platform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Tracepoint merges enterprise CRM with operational depth into a single, AI-orchestrated workspace that centralizes:</a:t>
            </a:r>
          </a:p>
          <a:p>
            <a:pPr lvl="1">
              <a:spcAft>
                <a:spcPts val="400"/>
              </a:spcAft>
              <a:defRPr sz="1500">
                <a:solidFill>
                  <a:srgbClr val="4CAF50"/>
                </a:solidFill>
              </a:defRPr>
            </a:pPr>
            <a:r>
              <a:t>✓ Quoting &amp; Pricing</a:t>
            </a:r>
          </a:p>
          <a:p>
            <a:pPr lvl="1">
              <a:spcAft>
                <a:spcPts val="400"/>
              </a:spcAft>
              <a:defRPr sz="1500">
                <a:solidFill>
                  <a:srgbClr val="4CAF50"/>
                </a:solidFill>
              </a:defRPr>
            </a:pPr>
            <a:r>
              <a:t>✓ Orders &amp; Purchase Orders</a:t>
            </a:r>
          </a:p>
          <a:p>
            <a:pPr lvl="1">
              <a:spcAft>
                <a:spcPts val="400"/>
              </a:spcAft>
              <a:defRPr sz="1500">
                <a:solidFill>
                  <a:srgbClr val="4CAF50"/>
                </a:solidFill>
              </a:defRPr>
            </a:pPr>
            <a:r>
              <a:t>✓ Work Orders &amp; Project Management</a:t>
            </a:r>
          </a:p>
          <a:p>
            <a:pPr lvl="1">
              <a:spcAft>
                <a:spcPts val="400"/>
              </a:spcAft>
              <a:defRPr sz="1500">
                <a:solidFill>
                  <a:srgbClr val="4CAF50"/>
                </a:solidFill>
              </a:defRPr>
            </a:pPr>
            <a:r>
              <a:t>✓ Shipments &amp; Logistics</a:t>
            </a:r>
          </a:p>
          <a:p>
            <a:pPr lvl="1">
              <a:spcAft>
                <a:spcPts val="400"/>
              </a:spcAft>
              <a:defRPr sz="1500">
                <a:solidFill>
                  <a:srgbClr val="4CAF50"/>
                </a:solidFill>
              </a:defRPr>
            </a:pPr>
            <a:r>
              <a:t>✓ Invoicing &amp; Financial Intelligence</a:t>
            </a:r>
          </a:p>
          <a:p>
            <a:pPr lvl="1">
              <a:spcAft>
                <a:spcPts val="400"/>
              </a:spcAft>
              <a:defRPr sz="1500">
                <a:solidFill>
                  <a:srgbClr val="4CAF50"/>
                </a:solidFill>
              </a:defRPr>
            </a:pPr>
            <a:r>
              <a:t>✓ CRM Pipelines &amp; Customer Management</a:t>
            </a:r>
          </a:p>
          <a:p/>
          <a:p>
            <a:pPr>
              <a:spcBef>
                <a:spcPts val="1500"/>
              </a:spcBef>
              <a:defRPr sz="1800" b="1">
                <a:solidFill>
                  <a:srgbClr val="FFC107"/>
                </a:solidFill>
              </a:defRPr>
            </a:pPr>
            <a:r>
              <a:t>Powered by SIA - Your Adaptive AI Assistant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All data flows from QAD ERP through automated pipelines, ensuring real-time accuracy while Tracepoint becomes your daily operational workspace.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64B5F6"/>
                </a:solidFill>
              </a:defRPr>
            </a:pPr>
            <a:r>
              <a:t>Dual Interface Ecosystem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QAD ERP</a:t>
            </a:r>
          </a:p>
          <a:p>
            <a:pPr lvl="1">
              <a:spcAft>
                <a:spcPts val="600"/>
              </a:spcAft>
              <a:defRPr sz="1400">
                <a:solidFill>
                  <a:srgbClr val="E6E6E6"/>
                </a:solidFill>
              </a:defRPr>
            </a:pPr>
            <a:r>
              <a:t>→ Authoritative source of truth for enterprise data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Tracepoint</a:t>
            </a:r>
          </a:p>
          <a:p>
            <a:pPr lvl="1">
              <a:spcAft>
                <a:spcPts val="600"/>
              </a:spcAft>
              <a:defRPr sz="1400">
                <a:solidFill>
                  <a:srgbClr val="E6E6E6"/>
                </a:solidFill>
              </a:defRPr>
            </a:pPr>
            <a:r>
              <a:t>→ Daily operational workspace for all contributors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Automated Pipeline</a:t>
            </a:r>
          </a:p>
          <a:p>
            <a:pPr lvl="1">
              <a:spcAft>
                <a:spcPts val="600"/>
              </a:spcAft>
              <a:defRPr sz="1400">
                <a:solidFill>
                  <a:srgbClr val="E6E6E6"/>
                </a:solidFill>
              </a:defRPr>
            </a:pPr>
            <a:r>
              <a:t>→ CSV reports flow to PostgreSQL + Redis for real-time access</a:t>
            </a:r>
          </a:p>
          <a:p/>
          <a:p>
            <a:pPr>
              <a:spcBef>
                <a:spcPts val="1500"/>
              </a:spcBef>
              <a:defRPr sz="1800" b="1">
                <a:solidFill>
                  <a:srgbClr val="64B5F6"/>
                </a:solidFill>
              </a:defRPr>
            </a:pPr>
            <a:r>
              <a:t>Data Backbone Benefits: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Every module pulls from the same normalized data layer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Ensures consistency and complete traceability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Real-time visibility across all operations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Single source of truth with zero data duplication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Orchestration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Meet SIA &amp; The Intelligent Agent Team</a:t>
            </a:r>
          </a:p>
          <a:p>
            <a:pPr>
              <a:spcAft>
                <a:spcPts val="1200"/>
              </a:spcAft>
              <a:defRPr sz="1400">
                <a:solidFill>
                  <a:srgbClr val="E0E0E0"/>
                </a:solidFill>
              </a:defRPr>
            </a:pPr>
            <a:r>
              <a:t>Users interact with SIA - a professional, adaptive assistant. Behind the scenes, specialized agents orchestrate every workflow:</a:t>
            </a:r>
          </a:p>
          <a:p>
            <a:pPr>
              <a:defRPr sz="1500" b="1">
                <a:solidFill>
                  <a:srgbClr val="FFC107"/>
                </a:solidFill>
              </a:defRPr>
            </a:pPr>
            <a:r>
              <a:t>SIA - Smart Intelligent Assistant</a:t>
            </a:r>
          </a:p>
          <a:p>
            <a:pPr lvl="1"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Your voice, guide, and interface to the AI team</a:t>
            </a:r>
          </a:p>
          <a:p>
            <a:pPr>
              <a:defRPr sz="1500" b="1">
                <a:solidFill>
                  <a:srgbClr val="FFC107"/>
                </a:solidFill>
              </a:defRPr>
            </a:pPr>
            <a:r>
              <a:t>ADA - Language ↔ SQL Translator</a:t>
            </a:r>
          </a:p>
          <a:p>
            <a:pPr lvl="1"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Converts questions into queries and data into insights</a:t>
            </a:r>
          </a:p>
          <a:p>
            <a:pPr>
              <a:defRPr sz="1500" b="1">
                <a:solidFill>
                  <a:srgbClr val="FFC107"/>
                </a:solidFill>
              </a:defRPr>
            </a:pPr>
            <a:r>
              <a:t>DEX - Logic ↔ App ↔ Render</a:t>
            </a:r>
          </a:p>
          <a:p>
            <a:pPr lvl="1"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Transforms UI interactions into database operations</a:t>
            </a:r>
          </a:p>
          <a:p>
            <a:pPr>
              <a:defRPr sz="1500" b="1">
                <a:solidFill>
                  <a:srgbClr val="FFC107"/>
                </a:solidFill>
              </a:defRPr>
            </a:pPr>
            <a:r>
              <a:t>CID - Context &amp; Documentation</a:t>
            </a:r>
          </a:p>
          <a:p>
            <a:pPr lvl="1"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Answers questions from company knowledge and ERP docs</a:t>
            </a:r>
          </a:p>
          <a:p>
            <a:pPr>
              <a:defRPr sz="1500" b="1">
                <a:solidFill>
                  <a:srgbClr val="FFC107"/>
                </a:solidFill>
              </a:defRPr>
            </a:pPr>
            <a:r>
              <a:t>ARC - Visualization AI</a:t>
            </a:r>
          </a:p>
          <a:p>
            <a:pPr lvl="1"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Renders charts, dashboards, scorecards automatically</a:t>
            </a:r>
          </a:p>
          <a:p>
            <a:pPr>
              <a:defRPr sz="1500" b="1">
                <a:solidFill>
                  <a:srgbClr val="FFC107"/>
                </a:solidFill>
              </a:defRPr>
            </a:pPr>
            <a:r>
              <a:t>DEV - Admin AI</a:t>
            </a:r>
          </a:p>
          <a:p>
            <a:pPr lvl="1">
              <a:spcAft>
                <a:spcPts val="600"/>
              </a:spcAft>
              <a:defRPr sz="1300">
                <a:solidFill>
                  <a:srgbClr val="E6E6E6"/>
                </a:solidFill>
              </a:defRPr>
            </a:pPr>
            <a:r>
              <a:t>Manages users, permissions, and company profiles</a:t>
            </a:r>
          </a:p>
          <a:p/>
          <a:p>
            <a:pPr>
              <a:spcBef>
                <a:spcPts val="1000"/>
              </a:spcBef>
              <a:defRPr sz="1400" i="1">
                <a:solidFill>
                  <a:srgbClr val="4CAF50"/>
                </a:solidFill>
              </a:defRPr>
            </a:pPr>
            <a:r>
              <a:t>Result: Contributors work faster with less training, while AI ensures accuracy and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Quote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Enterprise Quote-to-Cash Workflow Automation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Streamline the entire quoting lifecycle with intelligent automation and real-time visibility.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Multi-stage approval workflows with configurable business rules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Automated pricing calculations and version control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Track status from request → approval → acceptance → order conversion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Real-time analytics: win rates, quote values, bottleneck identification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Integration with financial systems for accurate pricing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Complete audit trails for regulatory compliance</a:t>
            </a:r>
          </a:p>
          <a:p/>
          <a:p>
            <a:pPr>
              <a:spcBef>
                <a:spcPts val="1200"/>
              </a:spcBef>
              <a:defRPr sz="1600" b="1">
                <a:solidFill>
                  <a:srgbClr val="FFC107"/>
                </a:solidFill>
              </a:defRPr>
            </a:pPr>
            <a:r>
              <a:t>Key Benefits: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Faster quote turnaround with automated approvals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Higher win rates through predictive analytics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Reduced errors with template-based generation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Complete visibility for sales leadership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Shipment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End-to-End Logistics Command Center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Transform logistics operations with real-time visibility across the entire supply chain.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Live GPS tracking with geofencing alerts and route optimization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Automated driver dispatch with intelligent load balancing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Monitor from pickup → delivery with milestone tracking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Predictive delivery windows and exception alerts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Mobile-first design for drivers with digital proof of delivery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Complete audit logging for regulatory compliance</a:t>
            </a:r>
          </a:p>
          <a:p/>
          <a:p>
            <a:pPr>
              <a:spcBef>
                <a:spcPts val="1200"/>
              </a:spcBef>
              <a:defRPr sz="1600" b="1">
                <a:solidFill>
                  <a:srgbClr val="FFC107"/>
                </a:solidFill>
              </a:defRPr>
            </a:pPr>
            <a:r>
              <a:t>Performance Metrics: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Driver efficiency tracking and performance analytics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SLA monitoring and customer satisfaction scoring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Chain-of-custody documentation for regulated shipments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Integration with third-party carriers and freight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Collaborative Work Orchestration Platform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Drive project success with enterprise-grade task management and team collaboration.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Unlimited task nesting with dependencies and milestone tracking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Intelligent workload distribution across teams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Automated workflows for notifications, approvals, escalations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Real-time dashboards showing project health and timeline adherence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Gantt charts and critical path analysis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Time tracking with billable hours management</a:t>
            </a:r>
          </a:p>
          <a:p/>
          <a:p>
            <a:pPr>
              <a:spcBef>
                <a:spcPts val="1200"/>
              </a:spcBef>
              <a:defRPr sz="1600" b="1">
                <a:solidFill>
                  <a:srgbClr val="FFC107"/>
                </a:solidFill>
              </a:defRPr>
            </a:pPr>
            <a:r>
              <a:t>Collaboration Features: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Threaded comments and @mentions for seamless communication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File attachments and document sharing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Resource capacity planning and cross-project portfolio management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Integration with calendars and communication platforms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Financial Intelligence (SIA)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AI-Powered Business Intelligence Assistant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Ask complex business questions in natural language - SIA delivers instant, data-backed insights.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Natural language queries against live financial data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Automatically generates and executes SQL queries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Executive summaries with actionable recommendations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Learns your terminology, metrics, and decision patterns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Proactive alerting for trends and anomalies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Customer segmentation and lifetime value calculations</a:t>
            </a:r>
          </a:p>
          <a:p/>
          <a:p>
            <a:pPr>
              <a:spcBef>
                <a:spcPts val="1200"/>
              </a:spcBef>
              <a:defRPr sz="1600" b="1">
                <a:solidFill>
                  <a:srgbClr val="FFC107"/>
                </a:solidFill>
              </a:defRPr>
            </a:pPr>
            <a:r>
              <a:t>Business Impact: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Democratize data access - no SQL knowledge required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Revenue forecasting and predictive analytics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Competitive benchmarking and market intelligence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Secure, role-based access with row-level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Document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Intelligent Document Automation Engine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Eliminate manual paperwork with AI-powered document generation and processing.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Auto-generate bills of lading, delivery tickets, packing slips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Template-based generation ensures brand consistency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Digital signature capture with tamper-proof timestamps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OCR and AI extract data from incoming documents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Secure cloud storage with version control and audit trails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Automated document routing and approval workflows</a:t>
            </a:r>
          </a:p>
          <a:p/>
          <a:p>
            <a:pPr>
              <a:spcBef>
                <a:spcPts val="1200"/>
              </a:spcBef>
              <a:defRPr sz="1600" b="1">
                <a:solidFill>
                  <a:srgbClr val="FFC107"/>
                </a:solidFill>
              </a:defRPr>
            </a:pPr>
            <a:r>
              <a:t>Compliance &amp; Security: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Legal proof of delivery and acceptance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Encryption at rest and in transit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Compliance-ready retention policies and legal holds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Complete document history for audit investigations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User &amp; Role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Zero-Trust Security and Access Control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Enterprise-grade security with granular role-based access control (RBAC).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Custom roles with precise permissions at object, field, and record levels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Department-based data segregation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Automated provisioning/de-provisioning with HR system integration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Multi-factor authentication and session management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Single Sign-On (SSO) with enterprise identity providers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Real-time security monitoring and threat detection</a:t>
            </a:r>
          </a:p>
          <a:p/>
          <a:p>
            <a:pPr>
              <a:spcBef>
                <a:spcPts val="1200"/>
              </a:spcBef>
              <a:defRPr sz="1600" b="1">
                <a:solidFill>
                  <a:srgbClr val="FFC107"/>
                </a:solidFill>
              </a:defRPr>
            </a:pPr>
            <a:r>
              <a:t>Compliance &amp; Audit: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Comprehensive audit logs for every login and data access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Privileged access management for admin functions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IP whitelisting and geographic restrictions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Security investigations and compliance reporting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Calendar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Unified Scheduling and Resource Coordination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Bi-directional Google Calendar integration synchronizes operations across the enterprise.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Automated scheduling of field service appointments and delivery windows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Intelligent conflict detection and resolution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Coordinate driver schedules and equipment availability in real-time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Mobile notifications for schedule changes and updates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Customer self-service scheduling portals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Integration with project management for task deadline alignment</a:t>
            </a:r>
          </a:p>
          <a:p/>
          <a:p>
            <a:pPr>
              <a:spcBef>
                <a:spcPts val="1200"/>
              </a:spcBef>
              <a:defRPr sz="1600" b="1">
                <a:solidFill>
                  <a:srgbClr val="FFC107"/>
                </a:solidFill>
              </a:defRPr>
            </a:pPr>
            <a:r>
              <a:t>Performance Optimization: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Analytics identify scheduling inefficiencies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Optimize resource utilization and on-time performance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Improve customer satisfaction with reliable appointment windows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Analytics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Real-Time Business Intelligence Platform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Transform data into actionable insights with enterprise-grade analytics.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Pre-built dashboards for instant KPI visibility across all operations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Self-service report builder with drag-and-drop interface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AI-driven insights identify trends and optimization opportunities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Scheduled reports delivered via email or messaging platforms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Data visualization transforms datasets into intuitive charts and heatmaps</a:t>
            </a:r>
          </a:p>
          <a:p>
            <a:pPr lvl="1">
              <a:spcAft>
                <a:spcPts val="400"/>
              </a:spcAft>
              <a:defRPr sz="1400">
                <a:solidFill>
                  <a:srgbClr val="E0E0E0"/>
                </a:solidFill>
              </a:defRPr>
            </a:pPr>
            <a:r>
              <a:t>✓ Integration with Looker Studio, Power BI, and Tableau</a:t>
            </a:r>
          </a:p>
          <a:p/>
          <a:p>
            <a:pPr>
              <a:spcBef>
                <a:spcPts val="1200"/>
              </a:spcBef>
              <a:defRPr sz="1600" b="1">
                <a:solidFill>
                  <a:srgbClr val="FFC107"/>
                </a:solidFill>
              </a:defRPr>
            </a:pPr>
            <a:r>
              <a:t>Advanced Features: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Predictive analytics and machine learning models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Automated anomaly detection and alerting</a:t>
            </a:r>
          </a:p>
          <a:p>
            <a:pPr lvl="1">
              <a:defRPr sz="1300">
                <a:solidFill>
                  <a:srgbClr val="4CAF50"/>
                </a:solidFill>
              </a:defRPr>
            </a:pPr>
            <a:r>
              <a:t>→ Data governance and certified metrics repository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Enterprise Platform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FFC107"/>
                </a:solidFill>
              </a:defRPr>
            </a:pPr>
            <a:r>
              <a:t>Scalability</a:t>
            </a:r>
          </a:p>
          <a:p>
            <a:pPr lvl="1">
              <a:spcAft>
                <a:spcPts val="800"/>
              </a:spcAft>
              <a:defRPr sz="1300">
                <a:solidFill>
                  <a:srgbClr val="E6E6E6"/>
                </a:solidFill>
              </a:defRPr>
            </a:pPr>
            <a:r>
              <a:t>Cloud-native architecture supports unlimited users and data growth without performance degradation</a:t>
            </a:r>
          </a:p>
          <a:p>
            <a:pPr>
              <a:spcBef>
                <a:spcPts val="600"/>
              </a:spcBef>
              <a:defRPr sz="1800" b="1">
                <a:solidFill>
                  <a:srgbClr val="FFC107"/>
                </a:solidFill>
              </a:defRPr>
            </a:pPr>
            <a:r>
              <a:t>Security</a:t>
            </a:r>
          </a:p>
          <a:p>
            <a:pPr lvl="1">
              <a:spcAft>
                <a:spcPts val="800"/>
              </a:spcAft>
              <a:defRPr sz="1300">
                <a:solidFill>
                  <a:srgbClr val="E6E6E6"/>
                </a:solidFill>
              </a:defRPr>
            </a:pPr>
            <a:r>
              <a:t>Enterprise-grade encryption, RBAC, and comprehensive audit logging meet SOC 2 and ISO 27001 requirements</a:t>
            </a:r>
          </a:p>
          <a:p>
            <a:pPr>
              <a:spcBef>
                <a:spcPts val="600"/>
              </a:spcBef>
              <a:defRPr sz="1800" b="1">
                <a:solidFill>
                  <a:srgbClr val="FFC107"/>
                </a:solidFill>
              </a:defRPr>
            </a:pPr>
            <a:r>
              <a:t>Integration</a:t>
            </a:r>
          </a:p>
          <a:p>
            <a:pPr lvl="1">
              <a:spcAft>
                <a:spcPts val="800"/>
              </a:spcAft>
              <a:defRPr sz="1300">
                <a:solidFill>
                  <a:srgbClr val="E6E6E6"/>
                </a:solidFill>
              </a:defRPr>
            </a:pPr>
            <a:r>
              <a:t>RESTful APIs, webhooks, and pre-built connectors enable seamless ERP and legacy system integration</a:t>
            </a:r>
          </a:p>
          <a:p>
            <a:pPr>
              <a:spcBef>
                <a:spcPts val="600"/>
              </a:spcBef>
              <a:defRPr sz="1800" b="1">
                <a:solidFill>
                  <a:srgbClr val="FFC107"/>
                </a:solidFill>
              </a:defRPr>
            </a:pPr>
            <a:r>
              <a:t>Customization</a:t>
            </a:r>
          </a:p>
          <a:p>
            <a:pPr lvl="1">
              <a:spcAft>
                <a:spcPts val="800"/>
              </a:spcAft>
              <a:defRPr sz="1300">
                <a:solidFill>
                  <a:srgbClr val="E6E6E6"/>
                </a:solidFill>
              </a:defRPr>
            </a:pPr>
            <a:r>
              <a:t>Configurable workflows and custom fields adapt to unique business processes without custom development</a:t>
            </a:r>
          </a:p>
          <a:p>
            <a:pPr>
              <a:spcBef>
                <a:spcPts val="600"/>
              </a:spcBef>
              <a:defRPr sz="1800" b="1">
                <a:solidFill>
                  <a:srgbClr val="FFC107"/>
                </a:solidFill>
              </a:defRPr>
            </a:pPr>
            <a:r>
              <a:t>Reliability</a:t>
            </a:r>
          </a:p>
          <a:p>
            <a:pPr lvl="1">
              <a:spcAft>
                <a:spcPts val="800"/>
              </a:spcAft>
              <a:defRPr sz="1300">
                <a:solidFill>
                  <a:srgbClr val="E6E6E6"/>
                </a:solidFill>
              </a:defRPr>
            </a:pPr>
            <a:r>
              <a:t>99.9% uptime SLA, automated backups, and multi-region redundancy ensure business continuity</a:t>
            </a:r>
          </a:p>
          <a:p>
            <a:pPr>
              <a:spcBef>
                <a:spcPts val="600"/>
              </a:spcBef>
              <a:defRPr sz="1800" b="1">
                <a:solidFill>
                  <a:srgbClr val="FFC107"/>
                </a:solidFill>
              </a:defRPr>
            </a:pPr>
            <a:r>
              <a:t>Support</a:t>
            </a:r>
          </a:p>
          <a:p>
            <a:pPr lvl="1">
              <a:spcAft>
                <a:spcPts val="800"/>
              </a:spcAft>
              <a:defRPr sz="1300">
                <a:solidFill>
                  <a:srgbClr val="E6E6E6"/>
                </a:solidFill>
              </a:defRPr>
            </a:pPr>
            <a:r>
              <a:t>24/7 technical support and comprehensive training programs accelerate adoption and maximize ROI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Strategic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500"/>
              </a:spcAft>
              <a:defRPr sz="2200" b="1">
                <a:solidFill>
                  <a:srgbClr val="64B5F6"/>
                </a:solidFill>
              </a:defRPr>
            </a:pPr>
            <a:r>
              <a:t>Why Swanson Industries Needs Tracepoint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Accelerated Decision-Making</a:t>
            </a:r>
          </a:p>
          <a:p>
            <a:pPr lvl="1">
              <a:spcAft>
                <a:spcPts val="800"/>
              </a:spcAft>
              <a:defRPr sz="1400">
                <a:solidFill>
                  <a:srgbClr val="4CAF50"/>
                </a:solidFill>
              </a:defRPr>
            </a:pPr>
            <a:r>
              <a:t>→ AI-driven insights enable faster, better business decisions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Enhanced Operational Efficiency</a:t>
            </a:r>
          </a:p>
          <a:p>
            <a:pPr lvl="1">
              <a:spcAft>
                <a:spcPts val="800"/>
              </a:spcAft>
              <a:defRPr sz="1400">
                <a:solidFill>
                  <a:srgbClr val="4CAF50"/>
                </a:solidFill>
              </a:defRPr>
            </a:pPr>
            <a:r>
              <a:t>→ Workflow automation significantly reduces manual efforts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Improved Transparency</a:t>
            </a:r>
          </a:p>
          <a:p>
            <a:pPr lvl="1">
              <a:spcAft>
                <a:spcPts val="800"/>
              </a:spcAft>
              <a:defRPr sz="1400">
                <a:solidFill>
                  <a:srgbClr val="4CAF50"/>
                </a:solidFill>
              </a:defRPr>
            </a:pPr>
            <a:r>
              <a:t>→ Real-time visibility drives clear ownership and accountability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Contributor Empowerment</a:t>
            </a:r>
          </a:p>
          <a:p>
            <a:pPr lvl="1">
              <a:spcAft>
                <a:spcPts val="800"/>
              </a:spcAft>
              <a:defRPr sz="1400">
                <a:solidFill>
                  <a:srgbClr val="4CAF50"/>
                </a:solidFill>
              </a:defRPr>
            </a:pPr>
            <a:r>
              <a:t>→ Adaptive AI guidance minimizes training and maximizes productivity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Future-Proof Growth</a:t>
            </a:r>
          </a:p>
          <a:p>
            <a:pPr lvl="1">
              <a:spcAft>
                <a:spcPts val="800"/>
              </a:spcAft>
              <a:defRPr sz="1400">
                <a:solidFill>
                  <a:srgbClr val="4CAF50"/>
                </a:solidFill>
              </a:defRPr>
            </a:pPr>
            <a:r>
              <a:t>→ Extensible platform scales with business needs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Competitive Advantage</a:t>
            </a:r>
          </a:p>
          <a:p>
            <a:pPr lvl="1">
              <a:spcAft>
                <a:spcPts val="800"/>
              </a:spcAft>
              <a:defRPr sz="1400">
                <a:solidFill>
                  <a:srgbClr val="4CAF50"/>
                </a:solidFill>
              </a:defRPr>
            </a:pPr>
            <a:r>
              <a:t>→ Unified operations platform positions Swanson ahead of competitors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F23"/>
            </a:gs>
            <a:gs pos="100000">
              <a:srgbClr val="14285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wanson logo full (1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769165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Tracepoint: Your Unified Operations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69494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700">
                <a:solidFill>
                  <a:srgbClr val="E0E0E0"/>
                </a:solidFill>
              </a:defRPr>
            </a:pPr>
            <a:r>
              <a:t>✓ AI-orchestrated platform merging CRM with operational modules</a:t>
            </a:r>
          </a:p>
          <a:p>
            <a:pPr>
              <a:spcAft>
                <a:spcPts val="1000"/>
              </a:spcAft>
              <a:defRPr sz="1700">
                <a:solidFill>
                  <a:srgbClr val="E0E0E0"/>
                </a:solidFill>
              </a:defRPr>
            </a:pPr>
            <a:r>
              <a:t>✓ Single workspace from opportunity to invoice</a:t>
            </a:r>
          </a:p>
          <a:p>
            <a:pPr>
              <a:spcAft>
                <a:spcPts val="1000"/>
              </a:spcAft>
              <a:defRPr sz="1700">
                <a:solidFill>
                  <a:srgbClr val="E0E0E0"/>
                </a:solidFill>
              </a:defRPr>
            </a:pPr>
            <a:r>
              <a:t>✓ SIA and intelligent agent team automate workflows</a:t>
            </a:r>
          </a:p>
          <a:p>
            <a:pPr>
              <a:spcAft>
                <a:spcPts val="1000"/>
              </a:spcAft>
              <a:defRPr sz="1700">
                <a:solidFill>
                  <a:srgbClr val="E0E0E0"/>
                </a:solidFill>
              </a:defRPr>
            </a:pPr>
            <a:r>
              <a:t>✓ Real-time data flow from QAD ERP to daily operations</a:t>
            </a:r>
          </a:p>
          <a:p>
            <a:pPr>
              <a:spcAft>
                <a:spcPts val="1000"/>
              </a:spcAft>
              <a:defRPr sz="1700">
                <a:solidFill>
                  <a:srgbClr val="E0E0E0"/>
                </a:solidFill>
              </a:defRPr>
            </a:pPr>
            <a:r>
              <a:t>✓ Enterprise-grade security, scalability, and compliance</a:t>
            </a:r>
          </a:p>
          <a:p>
            <a:pPr>
              <a:spcAft>
                <a:spcPts val="1000"/>
              </a:spcAft>
              <a:defRPr sz="1700">
                <a:solidFill>
                  <a:srgbClr val="E0E0E0"/>
                </a:solidFill>
              </a:defRPr>
            </a:pPr>
            <a:r>
              <a:t>✓ Proven ROI through efficiency, transparency, and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B5F6"/>
                </a:solidFill>
              </a:defRPr>
            </a:pPr>
            <a:r>
              <a:t>Tracepoint delivers enterprise-grade operational excellence through intelligent automation, real-time visibility, and AI-powered decision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